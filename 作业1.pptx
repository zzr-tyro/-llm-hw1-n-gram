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473" r:id="rId2"/>
    <p:sldId id="341" r:id="rId3"/>
    <p:sldId id="474" r:id="rId4"/>
    <p:sldId id="475" r:id="rId5"/>
    <p:sldId id="476" r:id="rId6"/>
    <p:sldId id="477" r:id="rId7"/>
    <p:sldId id="478" r:id="rId8"/>
    <p:sldId id="479" r:id="rId9"/>
    <p:sldId id="480" r:id="rId10"/>
    <p:sldId id="481" r:id="rId11"/>
    <p:sldId id="984" r:id="rId12"/>
    <p:sldId id="482" r:id="rId13"/>
    <p:sldId id="483" r:id="rId14"/>
    <p:sldId id="484" r:id="rId15"/>
    <p:sldId id="1253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9" y="3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A24849-8BEF-4C13-AFC7-6325008EE7C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CBE5-7484-4DEA-90D6-D0B0DFC4EF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07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https://www.princeton.edu/~wbialek/rome/refs/shannon_51.pdf  </a:t>
            </a:r>
            <a:r>
              <a:rPr lang="en-US" altLang="zh-CN" b="1" i="1" dirty="0"/>
              <a:t>Prediction and Entropy of Printed English</a:t>
            </a:r>
            <a:r>
              <a:rPr lang="en-US" altLang="zh-CN" dirty="0"/>
              <a:t>, By C. E. SHANNON</a:t>
            </a:r>
          </a:p>
          <a:p>
            <a:r>
              <a:rPr lang="en-US" altLang="zh-CN" dirty="0"/>
              <a:t>https://www.semanticscholar.org/paper/Statistical-methods-for-speech-recognition-Jelinek/231f6de83cfa4d641da1681e97a11b689a48e3aa</a:t>
            </a:r>
          </a:p>
          <a:p>
            <a:r>
              <a:rPr lang="en-US" altLang="zh-CN" dirty="0"/>
              <a:t>https://web.stanford.edu/~jurafsky/slp3/3.pdf   </a:t>
            </a:r>
            <a:r>
              <a:rPr lang="en-US" altLang="zh-CN" b="1" dirty="0"/>
              <a:t>N-gram Language Models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1487-35F5-4F0A-817E-8AD2932ED08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396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1487-35F5-4F0A-817E-8AD2932ED08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183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Qwen</a:t>
            </a:r>
            <a:r>
              <a:rPr lang="zh-CN" altLang="en-US" dirty="0"/>
              <a:t> 对 </a:t>
            </a:r>
            <a:r>
              <a:rPr lang="en-US" altLang="zh-CN" dirty="0"/>
              <a:t>PPM </a:t>
            </a:r>
            <a:r>
              <a:rPr lang="zh-CN" altLang="en-US" dirty="0"/>
              <a:t>的解释</a:t>
            </a:r>
            <a:endParaRPr lang="en-US" altLang="zh-CN" dirty="0"/>
          </a:p>
          <a:p>
            <a:endParaRPr lang="en-US" altLang="zh-CN" dirty="0"/>
          </a:p>
          <a:p>
            <a:pPr algn="l"/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n-gram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就像一个“记忆有限”的助手：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它只记得最近的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n−1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个字符。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它靠统计历史出现频率来猜下一个字符。</a:t>
            </a:r>
            <a:endParaRPr lang="en-US" altLang="zh-CN" b="0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2C2C36"/>
              </a:solidFill>
              <a:effectLst/>
              <a:latin typeface="system-ui"/>
            </a:endParaRPr>
          </a:p>
          <a:p>
            <a:r>
              <a:rPr lang="zh-CN" altLang="en-US" b="0" dirty="0">
                <a:effectLst/>
              </a:rPr>
              <a:t>✅ 优点：简单、高效</a:t>
            </a:r>
            <a:br>
              <a:rPr lang="zh-CN" altLang="en-US" b="0" dirty="0">
                <a:effectLst/>
              </a:rPr>
            </a:br>
            <a:r>
              <a:rPr lang="zh-CN" altLang="en-US" b="0" dirty="0">
                <a:effectLst/>
              </a:rPr>
              <a:t>❌ 缺点：太死板 </a:t>
            </a:r>
            <a:r>
              <a:rPr lang="en-US" altLang="zh-CN" b="0" dirty="0">
                <a:effectLst/>
              </a:rPr>
              <a:t>—— </a:t>
            </a:r>
            <a:r>
              <a:rPr lang="zh-CN" altLang="en-US" b="0" dirty="0">
                <a:effectLst/>
              </a:rPr>
              <a:t>如果前面是 “</a:t>
            </a:r>
            <a:r>
              <a:rPr lang="en-US" altLang="zh-CN" b="0" dirty="0">
                <a:effectLst/>
              </a:rPr>
              <a:t>the quick brown fox”</a:t>
            </a:r>
            <a:r>
              <a:rPr lang="zh-CN" altLang="en-US" b="0" dirty="0">
                <a:effectLst/>
              </a:rPr>
              <a:t>，它只记最后两个字符 “</a:t>
            </a:r>
            <a:r>
              <a:rPr lang="en-US" altLang="zh-CN" b="0" dirty="0">
                <a:effectLst/>
              </a:rPr>
              <a:t>ox”</a:t>
            </a:r>
            <a:r>
              <a:rPr lang="zh-CN" altLang="en-US" b="0" dirty="0">
                <a:effectLst/>
              </a:rPr>
              <a:t>，就忘了前面还有 “</a:t>
            </a:r>
            <a:r>
              <a:rPr lang="en-US" altLang="zh-CN" b="0" dirty="0">
                <a:effectLst/>
              </a:rPr>
              <a:t>brown” </a:t>
            </a:r>
            <a:r>
              <a:rPr lang="zh-CN" altLang="en-US" b="0" dirty="0">
                <a:effectLst/>
              </a:rPr>
              <a:t>和 “</a:t>
            </a:r>
            <a:r>
              <a:rPr lang="en-US" altLang="zh-CN" b="0" dirty="0">
                <a:effectLst/>
              </a:rPr>
              <a:t>quick” —— </a:t>
            </a:r>
            <a:r>
              <a:rPr lang="zh-CN" altLang="en-US" b="0" dirty="0">
                <a:effectLst/>
              </a:rPr>
              <a:t>可能错过更长的模式！ </a:t>
            </a:r>
          </a:p>
          <a:p>
            <a:pPr algn="l"/>
            <a:endParaRPr lang="en-US" altLang="zh-CN" b="1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/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PPM</a:t>
            </a:r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：聪明的升级版 </a:t>
            </a:r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—— “</a:t>
            </a:r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按需延长上下文”</a:t>
            </a:r>
          </a:p>
          <a:p>
            <a:pPr algn="l"/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PPM = Prediction by Partial Matching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（部分匹配预测）</a:t>
            </a:r>
            <a:endParaRPr lang="zh-CN" altLang="en-US" b="0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/>
            <a:endParaRPr lang="en-US" altLang="zh-CN" b="0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/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它的核心思想是：</a:t>
            </a:r>
          </a:p>
          <a:p>
            <a:r>
              <a:rPr lang="zh-CN" altLang="en-US" b="0" dirty="0">
                <a:effectLst/>
              </a:rPr>
              <a:t>“别死守固定长度！如果短上下文不够准，我就往回多看几个字符</a:t>
            </a:r>
            <a:r>
              <a:rPr lang="en-US" altLang="zh-CN" b="0" dirty="0">
                <a:effectLst/>
              </a:rPr>
              <a:t>——</a:t>
            </a:r>
            <a:r>
              <a:rPr lang="zh-CN" altLang="en-US" b="0" dirty="0">
                <a:effectLst/>
              </a:rPr>
              <a:t>直到找到足够可靠的模式！” </a:t>
            </a:r>
          </a:p>
          <a:p>
            <a:pPr algn="l"/>
            <a:endParaRPr lang="en-US" altLang="zh-CN" b="1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/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🧠 类比：你是个猜字高手</a:t>
            </a:r>
          </a:p>
          <a:p>
            <a:pPr algn="l"/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你看到这段文字：</a:t>
            </a:r>
          </a:p>
          <a:p>
            <a:r>
              <a:rPr lang="zh-CN" altLang="en-US" b="0" dirty="0">
                <a:effectLst/>
              </a:rPr>
              <a:t>“</a:t>
            </a:r>
            <a:r>
              <a:rPr lang="en-US" altLang="zh-CN" b="0" dirty="0">
                <a:effectLst/>
              </a:rPr>
              <a:t>The quick brown fox jumps over the lazy…” </a:t>
            </a:r>
          </a:p>
          <a:p>
            <a:pPr algn="l"/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你猜下一个字母是什么？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如果你只看最后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2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个字符：“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system-ui"/>
              </a:rPr>
              <a:t>zy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” →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可能猜 ‘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g’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（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lazy → lazy dog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？）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但如果你看最后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5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个字符：“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e lazy” →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更可能猜 ‘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d’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（因为 “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the lazy dog”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是常见搭配）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如果你再往前看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8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个字符：“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over the lazy” →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你就知道这极大概率是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“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dog”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！</a:t>
            </a:r>
            <a:endParaRPr lang="en-US" altLang="zh-CN" b="0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PPM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就是这样：它不固定记住 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3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个或 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5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个字符，而是“从短到长”逐步尝试，直到找到一个“曾经见过、且很可靠”的模式。</a:t>
            </a:r>
            <a:endParaRPr lang="zh-CN" altLang="en-US" b="0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/>
            <a:endParaRPr lang="en-US" altLang="zh-CN" b="1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/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PPM </a:t>
            </a:r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的“按需延长”是怎么做的？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从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最短上下文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开始：比如只看前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1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个字符： 如果这个上下文下，下一个字符有明确高频选项 → 就用它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如果没出现过，或者概率太低 → 回退一步：看前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2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个字符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还不行？再回退：看前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3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个字符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……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直到找到一个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曾经在训练数据中出现过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的上下文组合</a:t>
            </a:r>
          </a:p>
          <a:p>
            <a:endParaRPr lang="en-US" altLang="zh-CN" b="0" dirty="0">
              <a:effectLst/>
            </a:endParaRPr>
          </a:p>
          <a:p>
            <a:pPr algn="l"/>
            <a:endParaRPr lang="en-US" altLang="zh-CN" b="1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/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逃逸概率（</a:t>
            </a:r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Escape Probability</a:t>
            </a:r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）：如何处理“没见过的东西”？</a:t>
            </a:r>
          </a:p>
          <a:p>
            <a:pPr algn="l"/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这是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PPM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最精妙的地方！</a:t>
            </a:r>
          </a:p>
          <a:p>
            <a:pPr algn="l"/>
            <a:endParaRPr lang="en-US" altLang="zh-CN" b="1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/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❓ 问题来了：</a:t>
            </a:r>
          </a:p>
          <a:p>
            <a:pPr algn="l"/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假设你之前没见过 “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the lazy d”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这个序列，但你见过 “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the lazy”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和 “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lazy d”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和 “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y d”……</a:t>
            </a:r>
          </a:p>
          <a:p>
            <a:pPr algn="l"/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那你要怎么预测下一个字符是 ‘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o’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（形成 “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dog”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）？</a:t>
            </a:r>
          </a:p>
          <a:p>
            <a:pPr algn="l"/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你不能说：“我没见过，所以概率是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0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！”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——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否则整个系统崩溃了。</a:t>
            </a:r>
          </a:p>
          <a:p>
            <a:pPr algn="l"/>
            <a:endParaRPr lang="en-US" altLang="zh-CN" b="1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/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✅ </a:t>
            </a:r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PPM </a:t>
            </a:r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的解决方案：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逃逸概率（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Escape Probability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）</a:t>
            </a:r>
            <a:endParaRPr lang="zh-CN" altLang="en-US" b="1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/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想象每个上下文层级都有一个“逃生口”：</a:t>
            </a:r>
          </a:p>
          <a:p>
            <a:pPr algn="l" fontAlgn="base"/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4 </a:t>
            </a:r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字符： “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the lazy”</a:t>
            </a:r>
          </a:p>
          <a:p>
            <a:pPr algn="l" fontAlgn="base"/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给 “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o” </a:t>
            </a:r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分配 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60%</a:t>
            </a:r>
          </a:p>
          <a:p>
            <a:pPr algn="l" fontAlgn="base"/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保留 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10% </a:t>
            </a:r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逃逸给更短上下文</a:t>
            </a:r>
          </a:p>
          <a:p>
            <a:pPr algn="l" fontAlgn="base"/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3 </a:t>
            </a:r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字符： “</a:t>
            </a:r>
            <a:r>
              <a:rPr lang="en-US" altLang="zh-CN" b="0" i="0" dirty="0" err="1">
                <a:solidFill>
                  <a:srgbClr val="1D1D20"/>
                </a:solidFill>
                <a:effectLst/>
                <a:latin typeface="system-ui"/>
              </a:rPr>
              <a:t>azy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”</a:t>
            </a:r>
          </a:p>
          <a:p>
            <a:pPr algn="l" fontAlgn="base"/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给 “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d” </a:t>
            </a:r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分配 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70%</a:t>
            </a:r>
          </a:p>
          <a:p>
            <a:pPr algn="l" fontAlgn="base"/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保留 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15% </a:t>
            </a:r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逃逸</a:t>
            </a:r>
          </a:p>
          <a:p>
            <a:pPr algn="l" fontAlgn="base"/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2 </a:t>
            </a:r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字符： “</a:t>
            </a:r>
            <a:r>
              <a:rPr lang="en-US" altLang="zh-CN" b="0" i="0" dirty="0" err="1">
                <a:solidFill>
                  <a:srgbClr val="1D1D20"/>
                </a:solidFill>
                <a:effectLst/>
                <a:latin typeface="system-ui"/>
              </a:rPr>
              <a:t>zy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”</a:t>
            </a:r>
          </a:p>
          <a:p>
            <a:pPr algn="l" fontAlgn="base"/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给 “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g” </a:t>
            </a:r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分配 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50%</a:t>
            </a:r>
          </a:p>
          <a:p>
            <a:pPr algn="l" fontAlgn="base"/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保留 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20% </a:t>
            </a:r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逃逸</a:t>
            </a:r>
          </a:p>
          <a:p>
            <a:pPr algn="l" fontAlgn="base"/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1 </a:t>
            </a:r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字符： “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y”</a:t>
            </a:r>
          </a:p>
          <a:p>
            <a:pPr algn="l" fontAlgn="base"/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给 “ ” 分配 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40%</a:t>
            </a:r>
          </a:p>
          <a:p>
            <a:pPr algn="l" fontAlgn="base"/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保留 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30% </a:t>
            </a:r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逃逸</a:t>
            </a:r>
          </a:p>
          <a:p>
            <a:pPr algn="l"/>
            <a:endParaRPr lang="en-US" altLang="zh-CN" b="1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/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逃逸机制的工作流程：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模型首先尝试用最长上下文（如 “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the lazy”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）预测下一个字符。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如果这个词组合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从未出现过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 → 不直接失败，而是：“我不确定，但我相信更短的上下文可能有用” 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把当前预测的“权重”减去一个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逃逸概率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（比如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10%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），剩下的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90%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用于预测具体字符。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然后把这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10%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的“不确定性”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传递给更短的上下文模型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（比如 “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system-ui"/>
              </a:rPr>
              <a:t>azy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”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）。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如果 “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system-ui"/>
              </a:rPr>
              <a:t>azy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”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也没见过 → 再逃逸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15%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给 “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system-ui"/>
              </a:rPr>
              <a:t>zy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”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，以此类推。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最终，如果所有层级都逃逸到最短（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1-gram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），那就用全局字符频率（比如英语里 ‘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e’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最常见）做兜底。</a:t>
            </a:r>
          </a:p>
          <a:p>
            <a:pPr algn="l"/>
            <a:endParaRPr lang="en-US" altLang="zh-CN" b="1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/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效果：没有“未知”这个词！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即使遇到完全没见过的字符串（比如 “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system-ui"/>
              </a:rPr>
              <a:t>xqjz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”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），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PPM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也能给出一个合理的概率估计。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它不是“瞎猜”，而是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逐层递归地借用更通用的知识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这就像你第一次见到“量子纠缠”这个词：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你不知道它什么意思 → 但你知道“量”和“子”是汉字，“纠”和“缠”常一起出现 → 你猜它可能是某种物理概念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你不需要背过这个词，也能合理推测它的可能性</a:t>
            </a:r>
          </a:p>
          <a:p>
            <a:pPr algn="l"/>
            <a:endParaRPr lang="en-US" altLang="zh-CN" b="1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/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总结：一句话的完整解读（深入浅出版）</a:t>
            </a:r>
          </a:p>
          <a:p>
            <a:pPr algn="l" fontAlgn="base"/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“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PPM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是字符 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n-gram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的强力变体”</a:t>
            </a:r>
            <a:endParaRPr lang="zh-CN" altLang="en-US" b="0" i="0" dirty="0">
              <a:solidFill>
                <a:srgbClr val="1D1D20"/>
              </a:solidFill>
              <a:effectLst/>
              <a:latin typeface="system-ui"/>
            </a:endParaRPr>
          </a:p>
          <a:p>
            <a:pPr algn="l" fontAlgn="base"/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它继承了 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n-gram </a:t>
            </a:r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的思想：靠前面几个字符预测下一个。但它不再死板地只用固定长度（比如只看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3</a:t>
            </a:r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个字符），而是更聪明。</a:t>
            </a:r>
          </a:p>
          <a:p>
            <a:pPr algn="l" fontAlgn="base"/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“按需延长上下文”</a:t>
            </a:r>
            <a:endParaRPr lang="zh-CN" altLang="en-US" b="0" i="0" dirty="0">
              <a:solidFill>
                <a:srgbClr val="1D1D20"/>
              </a:solidFill>
              <a:effectLst/>
              <a:latin typeface="system-ui"/>
            </a:endParaRPr>
          </a:p>
          <a:p>
            <a:pPr algn="l" fontAlgn="base"/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它像侦探一样：先看最近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1</a:t>
            </a:r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个字符，不行？看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2</a:t>
            </a:r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个，还不行？看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3</a:t>
            </a:r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个、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4</a:t>
            </a:r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个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……</a:t>
            </a:r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直到找到一个熟悉的模式。它不浪费计算力，只在必要时“深挖”。</a:t>
            </a:r>
          </a:p>
          <a:p>
            <a:pPr algn="l" fontAlgn="base"/>
            <a:endParaRPr lang="en-US" altLang="zh-CN" b="0" i="0" dirty="0">
              <a:solidFill>
                <a:srgbClr val="111827"/>
              </a:solidFill>
              <a:effectLst/>
              <a:latin typeface="system-ui"/>
            </a:endParaRPr>
          </a:p>
          <a:p>
            <a:pPr algn="l" fontAlgn="base"/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“用逃逸概率处理未见”</a:t>
            </a:r>
            <a:endParaRPr lang="zh-CN" altLang="en-US" b="0" i="0" dirty="0">
              <a:solidFill>
                <a:srgbClr val="1D1D20"/>
              </a:solidFill>
              <a:effectLst/>
              <a:latin typeface="system-ui"/>
            </a:endParaRPr>
          </a:p>
          <a:p>
            <a:pPr algn="l" fontAlgn="base"/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当它遇到一个从没见过的组合（比如 “</a:t>
            </a:r>
            <a:r>
              <a:rPr lang="en-US" altLang="zh-CN" b="0" i="0" dirty="0" err="1">
                <a:solidFill>
                  <a:srgbClr val="1D1D20"/>
                </a:solidFill>
                <a:effectLst/>
                <a:latin typeface="system-ui"/>
              </a:rPr>
              <a:t>xyz</a:t>
            </a:r>
            <a:r>
              <a:rPr lang="en-US" altLang="zh-CN" b="0" i="0" dirty="0">
                <a:solidFill>
                  <a:srgbClr val="1D1D20"/>
                </a:solidFill>
                <a:effectLst/>
                <a:latin typeface="system-ui"/>
              </a:rPr>
              <a:t>”</a:t>
            </a:r>
            <a:r>
              <a:rPr lang="zh-CN" altLang="en-US" b="0" i="0" dirty="0">
                <a:solidFill>
                  <a:srgbClr val="1D1D20"/>
                </a:solidFill>
                <a:effectLst/>
                <a:latin typeface="system-ui"/>
              </a:rPr>
              <a:t>），它不会直接放弃。它会说：“好吧，我没见过，但我相信更短的规律还管用。”然后把“不确定的部分”传给更低阶的模型，一层层兜底，永不为零。</a:t>
            </a:r>
          </a:p>
          <a:p>
            <a:pPr algn="l"/>
            <a:endParaRPr lang="en-US" altLang="zh-CN" b="1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/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生活中的类比：</a:t>
            </a:r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PPM </a:t>
            </a:r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就像一个“会学习的客服机器人”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用户问：“你们有卖‘紫色独角兽毛笔’吗？”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机器人查数据库：❌ 没有。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它不回答“不存在”，而是：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查“独角兽” → 有，是玩具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查“毛笔” → 有，是文具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查“紫色” → 有，是颜色选项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它说：“虽然没卖过这个组合，但我们可以定制：紫色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+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独角兽造型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+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毛笔头，您要试试吗？”</a:t>
            </a:r>
          </a:p>
          <a:p>
            <a:pPr algn="l"/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→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这不是硬编码，而是动态推理 </a:t>
            </a:r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+ 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降级兜底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，正是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PPM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的精髓！</a:t>
            </a:r>
          </a:p>
          <a:p>
            <a:pPr algn="l"/>
            <a:endParaRPr lang="en-US" altLang="zh-CN" b="1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/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为什么 </a:t>
            </a:r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PPM </a:t>
            </a:r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在数据压缩中这么重要？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它能在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无先验知识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的情况下，对任意文本进行高效编码；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它能适应不同语言、不同风格（代码、诗歌、日志）；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它在早期压缩算法（如 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system-ui"/>
              </a:rPr>
              <a:t>ppmd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, 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system-ui"/>
              </a:rPr>
              <a:t>ppmd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-j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）中表现优异，甚至击败一些复杂模型；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它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不需要训练集预设词汇表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，纯靠统计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——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非常适合压缩未知内容。</a:t>
            </a:r>
          </a:p>
          <a:p>
            <a:endParaRPr lang="en-US" altLang="zh-CN" b="0" dirty="0">
              <a:effectLst/>
            </a:endParaRPr>
          </a:p>
          <a:p>
            <a:r>
              <a:rPr lang="zh-CN" altLang="en-US" b="0" dirty="0">
                <a:effectLst/>
              </a:rPr>
              <a:t>实际应用：</a:t>
            </a:r>
            <a:r>
              <a:rPr lang="en-US" altLang="zh-CN" b="0" dirty="0">
                <a:effectLst/>
              </a:rPr>
              <a:t>WinRAR</a:t>
            </a:r>
            <a:r>
              <a:rPr lang="zh-CN" altLang="en-US" b="0" dirty="0">
                <a:effectLst/>
              </a:rPr>
              <a:t>、</a:t>
            </a:r>
            <a:r>
              <a:rPr lang="en-US" altLang="zh-CN" b="0" dirty="0">
                <a:effectLst/>
              </a:rPr>
              <a:t>7-Zip </a:t>
            </a:r>
            <a:r>
              <a:rPr lang="zh-CN" altLang="en-US" b="0" dirty="0">
                <a:effectLst/>
              </a:rPr>
              <a:t>中曾使用 </a:t>
            </a:r>
            <a:r>
              <a:rPr lang="en-US" altLang="zh-CN" b="0" dirty="0">
                <a:effectLst/>
              </a:rPr>
              <a:t>PPM </a:t>
            </a:r>
            <a:r>
              <a:rPr lang="zh-CN" altLang="en-US" b="0" dirty="0">
                <a:effectLst/>
              </a:rPr>
              <a:t>变种作为压缩引擎之一，尤其擅长压缩文本、源码、</a:t>
            </a:r>
            <a:r>
              <a:rPr lang="en-US" altLang="zh-CN" b="0" dirty="0">
                <a:effectLst/>
              </a:rPr>
              <a:t>XML</a:t>
            </a:r>
            <a:r>
              <a:rPr lang="zh-CN" altLang="en-US" b="0" dirty="0">
                <a:effectLst/>
              </a:rPr>
              <a:t>等结构化文本。 </a:t>
            </a:r>
          </a:p>
          <a:p>
            <a:pPr algn="l"/>
            <a:endParaRPr lang="en-US" altLang="zh-CN" b="1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/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总结金句（帮你记住）：</a:t>
            </a:r>
          </a:p>
          <a:p>
            <a:r>
              <a:rPr lang="en-US" altLang="zh-CN" b="0" dirty="0">
                <a:effectLst/>
              </a:rPr>
              <a:t>PPM </a:t>
            </a:r>
            <a:r>
              <a:rPr lang="zh-CN" altLang="en-US" b="0" dirty="0">
                <a:effectLst/>
              </a:rPr>
              <a:t>不是死记硬背的“老学究”，而是灵活应变的“聪明侦探”</a:t>
            </a:r>
            <a:r>
              <a:rPr lang="en-US" altLang="zh-CN" b="0" dirty="0">
                <a:effectLst/>
              </a:rPr>
              <a:t>——</a:t>
            </a:r>
            <a:r>
              <a:rPr lang="zh-CN" altLang="en-US" b="0" dirty="0">
                <a:effectLst/>
              </a:rPr>
              <a:t>看不见就退一步，退到底还能靠常识救命。 </a:t>
            </a:r>
          </a:p>
          <a:p>
            <a:pPr algn="l"/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这才是它比固定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n-gram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强大的根本原因：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它懂“退让的艺术”，也懂“借力的智慧”。</a:t>
            </a:r>
            <a:endParaRPr lang="zh-CN" altLang="en-US" b="0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/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如果你想实现一个简单的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PPM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，只需要：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用树形结构存储所有见过的字符序列（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system-ui"/>
              </a:rPr>
              <a:t>trie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树），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每个节点记录字符频率，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每次预测时从最长匹配开始，找不到就“逃逸”到父节点，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逃逸概率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= 1 / (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该层级不同字符数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+ 1)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（常用公式）。</a:t>
            </a:r>
          </a:p>
          <a:p>
            <a:pPr algn="l"/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——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短短几十行代码，就能做出媲美专业压缩器的核心逻辑。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1487-35F5-4F0A-817E-8AD2932ED08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440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https://www.cs.brandeis.edu/~cs136a/CS136a_docs/goodman2001.pdf  </a:t>
            </a:r>
            <a:r>
              <a:rPr lang="en-US" altLang="zh-CN" b="1" dirty="0"/>
              <a:t>A Bit of Progress in Language Modeling Extended Version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https://dl.acm.org/doi/10.1109/34.56193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 Cache-Based Natural Language Model for Speech Recognition</a:t>
            </a:r>
          </a:p>
          <a:p>
            <a:r>
              <a:rPr lang="en-US" altLang="zh-CN" dirty="0"/>
              <a:t>https://www.cs.cmu.edu/~roni/papers/survey-slm-IEEE-PROC-0004.pdf   </a:t>
            </a:r>
            <a:r>
              <a:rPr lang="en-US" altLang="zh-CN" b="1" dirty="0"/>
              <a:t>TWO DECADES OF STATISTICAL LANGUAGE MODELING: WHERE DO WE GO FROM HERE?</a:t>
            </a:r>
          </a:p>
          <a:p>
            <a:endParaRPr lang="en-US" altLang="zh-CN" b="1" dirty="0"/>
          </a:p>
          <a:p>
            <a:r>
              <a:rPr lang="zh-CN" altLang="en-US" b="0" dirty="0"/>
              <a:t>注意，这些思路与平滑正交：解决“数谁、怎么共享、怎么适配”，不是“怎么分配给未见事件”。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1487-35F5-4F0A-817E-8AD2932ED08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35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让 </a:t>
            </a:r>
            <a:r>
              <a:rPr lang="en-US" altLang="zh-CN" dirty="0"/>
              <a:t>n-gram </a:t>
            </a:r>
            <a:r>
              <a:rPr lang="zh-CN" altLang="en-US" dirty="0"/>
              <a:t>在</a:t>
            </a:r>
            <a:r>
              <a:rPr lang="zh-CN" altLang="en-US" b="1" dirty="0"/>
              <a:t>更大数据、更复杂上下文、可部署</a:t>
            </a:r>
            <a:r>
              <a:rPr lang="zh-CN" altLang="en-US" dirty="0"/>
              <a:t>的方向上的思想和工具。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https://aclanthology.org/D07-1090.pdf  </a:t>
            </a:r>
            <a:r>
              <a:rPr lang="zh-CN" altLang="zh-CN" sz="1200" dirty="0"/>
              <a:t>Stupid Backoff</a:t>
            </a:r>
            <a:r>
              <a:rPr lang="en-US" altLang="zh-CN" sz="1200" dirty="0"/>
              <a:t>: </a:t>
            </a:r>
            <a:r>
              <a:rPr lang="en-US" altLang="zh-CN" dirty="0"/>
              <a:t>Large Language Models in Machine Translation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1487-35F5-4F0A-817E-8AD2932ED08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957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1487-35F5-4F0A-817E-8AD2932ED08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206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111827"/>
                </a:solidFill>
                <a:effectLst/>
                <a:latin typeface="system-ui"/>
              </a:rPr>
              <a:t>n-gram MLE</a:t>
            </a: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（最大似然估计）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 ：对训练集中出现过的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n-gram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，用它的频数除以总次数得到概率；没出现过的，直接赋概率为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0</a:t>
            </a:r>
          </a:p>
          <a:p>
            <a:endParaRPr lang="en-US" altLang="zh-CN" b="0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优点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：直观、简单、可解释。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致命问题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：语言服从 </a:t>
            </a:r>
            <a:r>
              <a:rPr lang="en-US" altLang="zh-CN" b="0" i="0" dirty="0" err="1">
                <a:solidFill>
                  <a:srgbClr val="2C2C36"/>
                </a:solidFill>
                <a:effectLst/>
                <a:latin typeface="system-ui"/>
              </a:rPr>
              <a:t>Zipf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分布（少数词高频，多数词罕见），测试集几乎必然包含大量“训练没见过但合理”的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n-gram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（如 “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quantum entanglement”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在小语料中未出现）。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结果：这些“未见事件”被赋予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0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概率 → 整个句子联合概率变为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0 →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困惑度（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perplexity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）飙升到无穷大。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1487-35F5-4F0A-817E-8AD2932ED08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989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一句话对照：</a:t>
            </a:r>
            <a:r>
              <a:rPr lang="en-US" altLang="zh-CN" b="1" dirty="0"/>
              <a:t>JM</a:t>
            </a:r>
            <a:r>
              <a:rPr lang="zh-CN" altLang="en-US" dirty="0"/>
              <a:t>＝“谁都说点”；</a:t>
            </a:r>
            <a:r>
              <a:rPr lang="en-US" altLang="zh-CN" b="1" dirty="0"/>
              <a:t>Katz</a:t>
            </a:r>
            <a:r>
              <a:rPr lang="zh-CN" altLang="en-US" dirty="0"/>
              <a:t>＝“见过的我先说，没见过再回退”；</a:t>
            </a:r>
            <a:r>
              <a:rPr lang="en-US" altLang="zh-CN" b="1" dirty="0" err="1"/>
              <a:t>Kneser</a:t>
            </a:r>
            <a:r>
              <a:rPr lang="en-US" altLang="zh-CN" b="1" dirty="0"/>
              <a:t>–Ney</a:t>
            </a:r>
            <a:r>
              <a:rPr lang="zh-CN" altLang="en-US" dirty="0"/>
              <a:t>＝“回退也要</a:t>
            </a:r>
            <a:r>
              <a:rPr lang="zh-CN" altLang="en-US" b="1" dirty="0"/>
              <a:t>聪明回退</a:t>
            </a:r>
            <a:r>
              <a:rPr lang="zh-CN" altLang="en-US" dirty="0"/>
              <a:t>，低阶分布看</a:t>
            </a:r>
            <a:r>
              <a:rPr lang="zh-CN" altLang="en-US" b="1" dirty="0"/>
              <a:t>续接多样性</a:t>
            </a:r>
            <a:r>
              <a:rPr lang="zh-CN" altLang="en-US" dirty="0"/>
              <a:t>，而不是光看全局频率”。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以下是</a:t>
            </a:r>
            <a:r>
              <a:rPr lang="en-US" altLang="zh-CN" dirty="0"/>
              <a:t>Qwen AI</a:t>
            </a:r>
            <a:r>
              <a:rPr lang="zh-CN" altLang="en-US" dirty="0"/>
              <a:t>给出的解释和说明。快速学习看这些也许可以，如果需要严肃认真学习，请参考课件中给出的原始论文及类似斯坦福的公开课课件。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为什么 </a:t>
            </a:r>
            <a:r>
              <a:rPr lang="en-US" altLang="zh-CN" dirty="0" err="1"/>
              <a:t>Kneser</a:t>
            </a:r>
            <a:r>
              <a:rPr lang="en-US" altLang="zh-CN" dirty="0"/>
              <a:t>-Ney </a:t>
            </a:r>
            <a:r>
              <a:rPr lang="zh-CN" altLang="en-US" dirty="0"/>
              <a:t>与众不同？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跨语料、跨规模的实证优势</a:t>
            </a:r>
            <a:r>
              <a:rPr lang="zh-CN" altLang="en-US" dirty="0"/>
              <a:t>：大样本比较显示，</a:t>
            </a:r>
            <a:r>
              <a:rPr lang="zh-CN" altLang="en-US" b="1" dirty="0"/>
              <a:t>插值的改进 </a:t>
            </a:r>
            <a:r>
              <a:rPr lang="en-US" altLang="zh-CN" b="1" dirty="0" err="1"/>
              <a:t>Kneser</a:t>
            </a:r>
            <a:r>
              <a:rPr lang="en-US" altLang="zh-CN" b="1" dirty="0"/>
              <a:t>–Ney</a:t>
            </a:r>
            <a:r>
              <a:rPr lang="zh-CN" altLang="en-US" b="1" dirty="0"/>
              <a:t>（</a:t>
            </a:r>
            <a:r>
              <a:rPr lang="en-US" altLang="zh-CN" b="1" dirty="0"/>
              <a:t>Interpolated Modified </a:t>
            </a:r>
            <a:r>
              <a:rPr lang="en-US" altLang="zh-CN" b="1" dirty="0" err="1"/>
              <a:t>Kneser</a:t>
            </a:r>
            <a:r>
              <a:rPr lang="en-US" altLang="zh-CN" b="1" dirty="0"/>
              <a:t>–Ney, IKN</a:t>
            </a:r>
            <a:r>
              <a:rPr lang="zh-CN" altLang="en-US" b="1" dirty="0"/>
              <a:t>）通常在交叉熵</a:t>
            </a:r>
            <a:r>
              <a:rPr lang="en-US" altLang="zh-CN" b="1" dirty="0"/>
              <a:t>/</a:t>
            </a:r>
            <a:r>
              <a:rPr lang="zh-CN" altLang="en-US" b="1" dirty="0"/>
              <a:t>困惑度上最稳健</a:t>
            </a:r>
            <a:r>
              <a:rPr lang="zh-CN" altLang="en-US" dirty="0"/>
              <a:t>，优于 </a:t>
            </a:r>
            <a:r>
              <a:rPr lang="en-US" altLang="zh-CN" dirty="0"/>
              <a:t>Katz </a:t>
            </a:r>
            <a:r>
              <a:rPr lang="zh-CN" altLang="en-US" dirty="0"/>
              <a:t>与简单插值法；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插值版</a:t>
            </a:r>
            <a:r>
              <a:rPr lang="zh-CN" altLang="en-US" dirty="0"/>
              <a:t>往往比同名的</a:t>
            </a:r>
            <a:r>
              <a:rPr lang="zh-CN" altLang="en-US" b="1" dirty="0"/>
              <a:t>回退版</a:t>
            </a:r>
            <a:r>
              <a:rPr lang="zh-CN" altLang="en-US" dirty="0"/>
              <a:t>更好（注意 </a:t>
            </a:r>
            <a:r>
              <a:rPr lang="en-US" altLang="zh-CN" dirty="0"/>
              <a:t>KN vs IKN </a:t>
            </a:r>
            <a:r>
              <a:rPr lang="zh-CN" altLang="en-US" dirty="0"/>
              <a:t>的区分）。</a:t>
            </a: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endParaRPr lang="en-US" altLang="zh-CN" b="1" dirty="0"/>
          </a:p>
          <a:p>
            <a:pPr>
              <a:buFont typeface="Arial" panose="020B0604020202020204" pitchFamily="34" charset="0"/>
              <a:buNone/>
            </a:pPr>
            <a:r>
              <a:rPr lang="zh-CN" altLang="en-US" b="1" dirty="0"/>
              <a:t>为什么它稳</a:t>
            </a:r>
            <a:r>
              <a:rPr lang="zh-CN" altLang="en-US" dirty="0"/>
              <a:t>：因为它不仅“挪质量”，还融合</a:t>
            </a:r>
            <a:r>
              <a:rPr lang="zh-CN" altLang="en-US" b="1" dirty="0"/>
              <a:t>了低阶分布的含义</a:t>
            </a:r>
            <a:endParaRPr lang="en-US" altLang="zh-CN" b="1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让低阶模型承担“</a:t>
            </a:r>
            <a:r>
              <a:rPr lang="zh-CN" altLang="en-US" b="1" dirty="0"/>
              <a:t>新上下文的泛化（多少连接的可能性</a:t>
            </a:r>
            <a:r>
              <a:rPr lang="en-US" altLang="zh-CN" b="1" dirty="0"/>
              <a:t>)</a:t>
            </a:r>
            <a:r>
              <a:rPr lang="zh-CN" altLang="en-US" dirty="0"/>
              <a:t>”职责，而不是“复述全局高频词”。这对长尾与跨域尤其关键。</a:t>
            </a:r>
          </a:p>
          <a:p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Jelinek–Mercer</a:t>
            </a:r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（线性插值）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优点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简单、鲁棒、易实现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——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不需要复杂平滑，直接加权混合。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自动处理稀疏问题：高阶没出现？低阶兜底，避免概率为零。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在文档级语言模型中尤其有效（如自适应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λ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，根据上下文主题动态调整）。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11827"/>
                </a:solidFill>
                <a:effectLst/>
                <a:latin typeface="system-ui"/>
              </a:rPr>
              <a:t>缺点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λ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如何设？太敏感：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λ=0.9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可能过拟合，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λ=0.3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又太保守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——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需调参或交叉验证。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没区分“词本身常见”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vs “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词在当前上下文后‘容易接续’”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——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比如 “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the”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很高频，但未必适合接在 “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quantum”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后；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JM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把这两者混在一起了。</a:t>
            </a:r>
            <a:endParaRPr lang="en-US" altLang="zh-CN" b="0" i="0" dirty="0">
              <a:solidFill>
                <a:srgbClr val="2C2C36"/>
              </a:solidFill>
              <a:effectLst/>
              <a:latin typeface="system-ui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2C2C36"/>
              </a:solidFill>
              <a:effectLst/>
              <a:latin typeface="system-ui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Katz Back-off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（回退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折扣）概要：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核心思想：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对见过的高阶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n-gram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，适当打折其概率（用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Good–Turing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等方法），把“省下来”的概率质量转移给低阶模型；对没见过的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n-gram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，直接“回退”到低阶模型预测。 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举个例子：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训练中看到 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quick brown” 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 → 原本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给它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P=3/1000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Katz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说：“别太自信”，只给它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P=2.5/1000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（折扣）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多出的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0.5/1000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不丢，存进“回退权重”里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当遇到 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quick fox”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（未见）→ 直接回退到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bigram P(fox | quick)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而这个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bigram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的概率，也可能是被它上一级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trigram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打过折后留下的“余量”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优点：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保留高阶信息主导权：只要高阶出现过，就优先用它（比插值更“信任上下文”）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节省内存与参数：不需要存储所有低阶分布的完整权重，只需保存回退系数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理论严谨：源于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Good–Turing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的频次修正，符合稀疏数据统计规律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原始动机清晰：在数据稀疏时，既要算得准，又要存得下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缺点：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回退到低阶时“一刀切”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不区分低阶模型本身是否可靠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对长尾词或跨域文本（如科技论文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社交媒体）表现不稳定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低阶分布仍用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或简单平滑，未能建模“词作为续接的倾向性”（这点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Kneser-Ney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后来改进）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一句话总结：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Katz Back-off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是“宁可少给点高阶概率，也要留条后路”的务实策略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它不靠混合，而靠“节俭分配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紧急逃生”，是统计语言模型走向高效实用的关键一步。 </a:t>
            </a:r>
          </a:p>
          <a:p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历史意义：它是从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到现代平滑（如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Kneser-Ney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）的桥梁，在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年代广泛用于语音识别和机器翻译系统，是稀疏数据下最优性价比的解决方案之一。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Kneser–Ney /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改进版（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IKN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）概要：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核心突破：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不再用“词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本身出现多少次”（一元频率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P(w)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），而是用 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被多少种不同前缀接续过”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即“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作为新续接词的多样性”，记作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P_cont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 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举例：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Francisco”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出现次数少，但几乎只被 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San”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 → 续接多样性低 → 回退时不应优先给它概率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glasses”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被 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wear”, “broken”, “sung”, “reading”…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多种前缀接 → 续接多样性高 → 即使全局频次不高，也应被“信任”，作为合理续接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这解决了传统平滑（如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Katz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）的致命缺陷：高频词霸占概率，低频但合理词被忽略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改进版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IKN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 Kneser–Ney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 进一步：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采用分段折扣（不同频次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n-gram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用不同折扣率），更精细地分配“概率余量”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用插值形式（而非纯回退），提升跨域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长尾场景的稳定性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实践中成为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n-gram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平滑的黄金标准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在困惑度、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OOV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处理、跨语料迁移上全面领先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优点：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更符合语言本质：语言不是“词频游戏”，而是“搭配可能性游戏”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对低频但语义合理的词更友好（如专有名词、新词）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在稀疏数据下表现极佳，是统计语言模型的“终极形态”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缺点：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实现稍复杂（需统计“续接上下文种类数”）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仍无法建模长距离依赖（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n-gram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的通病）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被神经语言模型（如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）取代，但在轻量、快速、可解释场景仍有价值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一句话总结：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Kneser–Ney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不问“这个词常见吗？”，而问“这个词能接在多少种上下文后面？”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它把语言建模从“词频霸权”解放为“搭配自由”，是统计时代最聪明的平滑算法。 </a:t>
            </a:r>
          </a:p>
          <a:p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历史地位：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IKN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n-gram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语言模型发展的理论与实践巅峰，至今仍是对比实验的强基线，在语音识别、拼写纠错、轻量设备部署中仍被广泛使用。</a:t>
            </a:r>
          </a:p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zh-CN" b="0" i="0" dirty="0">
              <a:solidFill>
                <a:srgbClr val="2C2C36"/>
              </a:solidFill>
              <a:effectLst/>
              <a:latin typeface="system-ui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2C2C36"/>
              </a:solidFill>
              <a:effectLst/>
              <a:latin typeface="system-ui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2C2C36"/>
              </a:solidFill>
              <a:effectLst/>
              <a:latin typeface="system-ui"/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1487-35F5-4F0A-817E-8AD2932ED08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6480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平滑缓解了“未见事件”，但</a:t>
            </a:r>
            <a:r>
              <a:rPr lang="zh-CN" altLang="en-US" b="1" dirty="0"/>
              <a:t>没有触及 </a:t>
            </a:r>
            <a:r>
              <a:rPr lang="en-US" altLang="zh-CN" b="1" dirty="0"/>
              <a:t>n-gram </a:t>
            </a:r>
            <a:r>
              <a:rPr lang="zh-CN" altLang="en-US" b="1" dirty="0"/>
              <a:t>的天花板</a:t>
            </a:r>
            <a:r>
              <a:rPr lang="en-US" altLang="zh-CN" b="1" dirty="0"/>
              <a:t>;</a:t>
            </a:r>
          </a:p>
          <a:p>
            <a:r>
              <a:rPr lang="zh-CN" altLang="en-US" dirty="0"/>
              <a:t>现代 </a:t>
            </a:r>
            <a:r>
              <a:rPr lang="en-US" altLang="zh-CN" dirty="0"/>
              <a:t>LLM </a:t>
            </a:r>
            <a:r>
              <a:rPr lang="zh-CN" altLang="en-US" dirty="0"/>
              <a:t>的自注意力，本质上就是在“</a:t>
            </a:r>
            <a:r>
              <a:rPr lang="zh-CN" altLang="en-US" b="1" dirty="0"/>
              <a:t>谁和谁要建立依赖</a:t>
            </a:r>
            <a:r>
              <a:rPr lang="zh-CN" altLang="en-US" dirty="0"/>
              <a:t>”这件事上更灵活。另一方面，嵌入的发展，让词汇中的同义词问题得到解决</a:t>
            </a:r>
            <a:endParaRPr lang="en-US" altLang="zh-CN" b="0" dirty="0"/>
          </a:p>
          <a:p>
            <a:endParaRPr lang="en-US" altLang="zh-CN" b="1" dirty="0"/>
          </a:p>
          <a:p>
            <a:r>
              <a:rPr lang="zh-CN" altLang="en-US" b="0" dirty="0"/>
              <a:t>斯坦福 </a:t>
            </a:r>
            <a:r>
              <a:rPr lang="en-US" altLang="zh-CN" b="0" dirty="0"/>
              <a:t>n-gram</a:t>
            </a:r>
            <a:r>
              <a:rPr lang="zh-CN" altLang="en-US" b="0" dirty="0"/>
              <a:t>模型的教学课件：</a:t>
            </a:r>
            <a:r>
              <a:rPr lang="en-US" altLang="zh-CN" b="0" dirty="0"/>
              <a:t>https://web.stanford.edu/~jurafsky/slp3/slides/lm24aug.pdf</a:t>
            </a:r>
          </a:p>
          <a:p>
            <a:endParaRPr lang="en-US" altLang="zh-CN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1487-35F5-4F0A-817E-8AD2932ED08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75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1487-35F5-4F0A-817E-8AD2932ED08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308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https://infini-gram.io/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1487-35F5-4F0A-817E-8AD2932ED08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676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https://prod-c2g.s3.amazonaws.com/cs224n/Fall2012/files/goodman-2001.pdf </a:t>
            </a:r>
          </a:p>
          <a:p>
            <a:r>
              <a:rPr lang="en-US" altLang="zh-CN" dirty="0"/>
              <a:t>https://aclanthology.org/N03-2002.pdf</a:t>
            </a:r>
          </a:p>
          <a:p>
            <a:endParaRPr lang="en-US" altLang="zh-CN" dirty="0"/>
          </a:p>
          <a:p>
            <a:r>
              <a:rPr lang="en-US" altLang="zh-CN" b="1" dirty="0"/>
              <a:t>IKN </a:t>
            </a:r>
            <a:r>
              <a:rPr lang="zh-CN" altLang="en-US" b="1" dirty="0"/>
              <a:t>有价值</a:t>
            </a:r>
            <a:r>
              <a:rPr lang="zh-CN" altLang="en-US" dirty="0"/>
              <a:t>：先会用，再理解“续接多样性”的低阶直觉。</a:t>
            </a:r>
          </a:p>
          <a:p>
            <a:r>
              <a:rPr lang="zh-CN" altLang="en-US" b="1" dirty="0"/>
              <a:t>加两个“补丁”</a:t>
            </a:r>
            <a:r>
              <a:rPr lang="zh-CN" altLang="en-US" dirty="0"/>
              <a:t>：缓存 </a:t>
            </a:r>
            <a:r>
              <a:rPr lang="en-US" altLang="zh-CN" dirty="0"/>
              <a:t>+ </a:t>
            </a:r>
            <a:r>
              <a:rPr lang="zh-CN" altLang="en-US" dirty="0"/>
              <a:t>句子</a:t>
            </a:r>
            <a:r>
              <a:rPr lang="en-US" altLang="zh-CN" dirty="0"/>
              <a:t>/</a:t>
            </a:r>
            <a:r>
              <a:rPr lang="zh-CN" altLang="en-US" dirty="0"/>
              <a:t>主题混合（或领域插值）。</a:t>
            </a:r>
          </a:p>
          <a:p>
            <a:r>
              <a:rPr lang="zh-CN" altLang="en-US" b="1" dirty="0"/>
              <a:t>按需求加“结构”</a:t>
            </a:r>
            <a:r>
              <a:rPr lang="zh-CN" altLang="en-US" dirty="0"/>
              <a:t>：域迁移多 → 类</a:t>
            </a:r>
            <a:r>
              <a:rPr lang="en-US" altLang="zh-CN" dirty="0"/>
              <a:t>/</a:t>
            </a:r>
            <a:r>
              <a:rPr lang="zh-CN" altLang="en-US" dirty="0"/>
              <a:t>因子化；窗口短 → </a:t>
            </a:r>
            <a:r>
              <a:rPr lang="en-US" altLang="zh-CN" dirty="0"/>
              <a:t>skip n-gram</a:t>
            </a:r>
            <a:r>
              <a:rPr lang="zh-CN" altLang="en-US" dirty="0"/>
              <a:t>；语料超大 → </a:t>
            </a:r>
            <a:r>
              <a:rPr lang="en-US" altLang="zh-CN" dirty="0"/>
              <a:t>Stupid Backoff</a:t>
            </a:r>
            <a:r>
              <a:rPr lang="zh-CN" altLang="en-US" dirty="0"/>
              <a:t>；部署受限 → 熵剪枝。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n-gram </a:t>
            </a:r>
            <a:r>
              <a:rPr lang="zh-CN" altLang="en-US" dirty="0"/>
              <a:t>的“技巧大全”看似纷繁，但都在回答同一件事</a:t>
            </a:r>
            <a:r>
              <a:rPr lang="en-US" altLang="zh-CN" dirty="0"/>
              <a:t>——</a:t>
            </a:r>
            <a:r>
              <a:rPr lang="zh-CN" altLang="en-US" b="1" dirty="0"/>
              <a:t>把有限计数泛化到未见组合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IKN </a:t>
            </a:r>
            <a:r>
              <a:rPr lang="zh-CN" altLang="en-US" dirty="0"/>
              <a:t>之所以长期是强基线，是因为它连“</a:t>
            </a:r>
            <a:r>
              <a:rPr lang="zh-CN" altLang="en-US" b="1" dirty="0"/>
              <a:t>回退时该往哪儿给</a:t>
            </a:r>
            <a:r>
              <a:rPr lang="zh-CN" altLang="en-US" dirty="0"/>
              <a:t>”都想清楚了；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其余变种要么是为</a:t>
            </a:r>
            <a:r>
              <a:rPr lang="zh-CN" altLang="en-US" b="1" dirty="0"/>
              <a:t>规模与效率</a:t>
            </a:r>
            <a:r>
              <a:rPr lang="zh-CN" altLang="en-US" dirty="0"/>
              <a:t>，要么为</a:t>
            </a:r>
            <a:r>
              <a:rPr lang="zh-CN" altLang="en-US" b="1" dirty="0"/>
              <a:t>跨域与结构信息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当这些补丁也不够时，就意味着你要从“计数表”走向“表示学习”。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1487-35F5-4F0A-817E-8AD2932ED08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494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Qwen</a:t>
            </a:r>
            <a:r>
              <a:rPr lang="en-US" altLang="zh-CN" dirty="0"/>
              <a:t> AI </a:t>
            </a:r>
            <a:r>
              <a:rPr lang="zh-CN" altLang="en-US" dirty="0"/>
              <a:t>撰写的 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学习指导：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是一个高效、广泛使用的**语言模型（</a:t>
            </a:r>
            <a:r>
              <a:rPr lang="en-US" altLang="zh-CN" dirty="0"/>
              <a:t>Language Model, LM</a:t>
            </a:r>
            <a:r>
              <a:rPr lang="zh-CN" altLang="en-US" dirty="0"/>
              <a:t>）工具包**，由 </a:t>
            </a:r>
            <a:r>
              <a:rPr lang="en-US" altLang="zh-CN" dirty="0"/>
              <a:t>Kenneth </a:t>
            </a:r>
            <a:r>
              <a:rPr lang="en-US" altLang="zh-CN" dirty="0" err="1"/>
              <a:t>Heafield</a:t>
            </a:r>
            <a:r>
              <a:rPr lang="en-US" altLang="zh-CN" dirty="0"/>
              <a:t> </a:t>
            </a:r>
            <a:r>
              <a:rPr lang="zh-CN" altLang="en-US" dirty="0"/>
              <a:t>开发，特别擅长构建和查询 **</a:t>
            </a:r>
            <a:r>
              <a:rPr lang="en-US" altLang="zh-CN" dirty="0"/>
              <a:t>n-gram </a:t>
            </a:r>
            <a:r>
              <a:rPr lang="zh-CN" altLang="en-US" dirty="0"/>
              <a:t>语言模型**（如 </a:t>
            </a:r>
            <a:r>
              <a:rPr lang="en-US" altLang="zh-CN" dirty="0"/>
              <a:t>trigram</a:t>
            </a:r>
            <a:r>
              <a:rPr lang="zh-CN" altLang="en-US" dirty="0"/>
              <a:t>、</a:t>
            </a:r>
            <a:r>
              <a:rPr lang="en-US" altLang="zh-CN" dirty="0"/>
              <a:t>4-gram </a:t>
            </a:r>
            <a:r>
              <a:rPr lang="zh-CN" altLang="en-US" dirty="0"/>
              <a:t>等），在机器翻译、语音识别、文本生成等领域被大量使用。它以**速度快、内存效率高、支持磁盘存储**著称。</a:t>
            </a:r>
          </a:p>
          <a:p>
            <a:endParaRPr lang="zh-CN" altLang="en-US" dirty="0"/>
          </a:p>
          <a:p>
            <a:r>
              <a:rPr lang="zh-CN" altLang="en-US" dirty="0"/>
              <a:t>以下是 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的**主要开源实现和相关生态**的完整说明：</a:t>
            </a:r>
          </a:p>
          <a:p>
            <a:endParaRPr lang="zh-CN" altLang="en-US" dirty="0"/>
          </a:p>
          <a:p>
            <a:r>
              <a:rPr lang="en-US" altLang="zh-CN" dirty="0"/>
              <a:t>---</a:t>
            </a:r>
          </a:p>
          <a:p>
            <a:endParaRPr lang="en-US" altLang="zh-CN" dirty="0"/>
          </a:p>
          <a:p>
            <a:r>
              <a:rPr lang="en-US" altLang="zh-CN" dirty="0"/>
              <a:t>## </a:t>
            </a:r>
            <a:r>
              <a:rPr lang="zh-CN" altLang="en-US" dirty="0"/>
              <a:t>✅ 一、官方主仓库：</a:t>
            </a:r>
            <a:r>
              <a:rPr lang="en-US" altLang="zh-CN" dirty="0" err="1"/>
              <a:t>KenLM</a:t>
            </a:r>
            <a:r>
              <a:rPr lang="zh-CN" altLang="en-US" dirty="0"/>
              <a:t>（核心开源实现）</a:t>
            </a:r>
          </a:p>
          <a:p>
            <a:endParaRPr lang="zh-CN" altLang="en-US" dirty="0"/>
          </a:p>
          <a:p>
            <a:r>
              <a:rPr lang="en-US" altLang="zh-CN" dirty="0"/>
              <a:t>### </a:t>
            </a:r>
            <a:r>
              <a:rPr lang="zh-CN" altLang="en-US" dirty="0"/>
              <a:t>🔗 官方地址：</a:t>
            </a:r>
          </a:p>
          <a:p>
            <a:r>
              <a:rPr lang="en-US" altLang="zh-CN" dirty="0"/>
              <a:t>&gt; **https://github.com/kpu/kenlm**</a:t>
            </a:r>
          </a:p>
          <a:p>
            <a:endParaRPr lang="en-US" altLang="zh-CN" dirty="0"/>
          </a:p>
          <a:p>
            <a:r>
              <a:rPr lang="zh-CN" altLang="en-US" dirty="0"/>
              <a:t>这是 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的**唯一官方开源实现**，由 </a:t>
            </a:r>
            <a:r>
              <a:rPr lang="en-US" altLang="zh-CN" dirty="0"/>
              <a:t>Kenneth </a:t>
            </a:r>
            <a:r>
              <a:rPr lang="en-US" altLang="zh-CN" dirty="0" err="1"/>
              <a:t>Heafield</a:t>
            </a:r>
            <a:r>
              <a:rPr lang="en-US" altLang="zh-CN" dirty="0"/>
              <a:t> </a:t>
            </a:r>
            <a:r>
              <a:rPr lang="zh-CN" altLang="en-US" dirty="0"/>
              <a:t>维护，是所有衍生工具的基础。</a:t>
            </a:r>
          </a:p>
          <a:p>
            <a:endParaRPr lang="zh-CN" altLang="en-US" dirty="0"/>
          </a:p>
          <a:p>
            <a:r>
              <a:rPr lang="en-US" altLang="zh-CN" dirty="0"/>
              <a:t>### </a:t>
            </a:r>
            <a:r>
              <a:rPr lang="zh-CN" altLang="en-US" dirty="0"/>
              <a:t>📌 核心特性：</a:t>
            </a:r>
          </a:p>
          <a:p>
            <a:r>
              <a:rPr lang="en-US" altLang="zh-CN" dirty="0"/>
              <a:t>| </a:t>
            </a:r>
            <a:r>
              <a:rPr lang="zh-CN" altLang="en-US" dirty="0"/>
              <a:t>特性 </a:t>
            </a:r>
            <a:r>
              <a:rPr lang="en-US" altLang="zh-CN" dirty="0"/>
              <a:t>| </a:t>
            </a:r>
            <a:r>
              <a:rPr lang="zh-CN" altLang="en-US" dirty="0"/>
              <a:t>说明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|------|------|</a:t>
            </a:r>
          </a:p>
          <a:p>
            <a:r>
              <a:rPr lang="en-US" altLang="zh-CN" dirty="0"/>
              <a:t>| **</a:t>
            </a:r>
            <a:r>
              <a:rPr lang="zh-CN" altLang="en-US" dirty="0"/>
              <a:t>语言模型格式** </a:t>
            </a:r>
            <a:r>
              <a:rPr lang="en-US" altLang="zh-CN" dirty="0"/>
              <a:t>| </a:t>
            </a:r>
            <a:r>
              <a:rPr lang="zh-CN" altLang="en-US" dirty="0"/>
              <a:t>支持 </a:t>
            </a:r>
            <a:r>
              <a:rPr lang="en-US" altLang="zh-CN" dirty="0"/>
              <a:t>ARPA </a:t>
            </a:r>
            <a:r>
              <a:rPr lang="zh-CN" altLang="en-US" dirty="0"/>
              <a:t>格式（文本）和二进制（</a:t>
            </a:r>
            <a:r>
              <a:rPr lang="en-US" altLang="zh-CN" dirty="0"/>
              <a:t>.bin</a:t>
            </a:r>
            <a:r>
              <a:rPr lang="zh-CN" altLang="en-US" dirty="0"/>
              <a:t>）格式，后者可加载到内存中极快查询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</a:t>
            </a:r>
            <a:r>
              <a:rPr lang="zh-CN" altLang="en-US" dirty="0"/>
              <a:t>高效查询** </a:t>
            </a:r>
            <a:r>
              <a:rPr lang="en-US" altLang="zh-CN" dirty="0"/>
              <a:t>| </a:t>
            </a:r>
            <a:r>
              <a:rPr lang="zh-CN" altLang="en-US" dirty="0"/>
              <a:t>使用 </a:t>
            </a:r>
            <a:r>
              <a:rPr lang="en-US" altLang="zh-CN" dirty="0" err="1"/>
              <a:t>trie</a:t>
            </a:r>
            <a:r>
              <a:rPr lang="en-US" altLang="zh-CN" dirty="0"/>
              <a:t> + hash </a:t>
            </a:r>
            <a:r>
              <a:rPr lang="zh-CN" altLang="en-US" dirty="0"/>
              <a:t>表 </a:t>
            </a:r>
            <a:r>
              <a:rPr lang="en-US" altLang="zh-CN" dirty="0"/>
              <a:t>+ </a:t>
            </a:r>
            <a:r>
              <a:rPr lang="zh-CN" altLang="en-US" dirty="0"/>
              <a:t>压缩技术，查询速度极快（每秒数百万词）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</a:t>
            </a:r>
            <a:r>
              <a:rPr lang="zh-CN" altLang="en-US" dirty="0"/>
              <a:t>内存优化** </a:t>
            </a:r>
            <a:r>
              <a:rPr lang="en-US" altLang="zh-CN" dirty="0"/>
              <a:t>| </a:t>
            </a:r>
            <a:r>
              <a:rPr lang="zh-CN" altLang="en-US" dirty="0"/>
              <a:t>可将模型压缩至原 </a:t>
            </a:r>
            <a:r>
              <a:rPr lang="en-US" altLang="zh-CN" dirty="0"/>
              <a:t>ARPA </a:t>
            </a:r>
            <a:r>
              <a:rPr lang="zh-CN" altLang="en-US" dirty="0"/>
              <a:t>文件大小的 </a:t>
            </a:r>
            <a:r>
              <a:rPr lang="en-US" altLang="zh-CN" dirty="0"/>
              <a:t>1/5~1/10</a:t>
            </a:r>
            <a:r>
              <a:rPr lang="zh-CN" altLang="en-US" dirty="0"/>
              <a:t>，支持 </a:t>
            </a:r>
            <a:r>
              <a:rPr lang="en-US" altLang="zh-CN" dirty="0" err="1"/>
              <a:t>mmapped</a:t>
            </a:r>
            <a:r>
              <a:rPr lang="zh-CN" altLang="en-US" dirty="0"/>
              <a:t>（内存映射）读取大模型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</a:t>
            </a:r>
            <a:r>
              <a:rPr lang="zh-CN" altLang="en-US" dirty="0"/>
              <a:t>多语言支持** </a:t>
            </a:r>
            <a:r>
              <a:rPr lang="en-US" altLang="zh-CN" dirty="0"/>
              <a:t>| </a:t>
            </a:r>
            <a:r>
              <a:rPr lang="zh-CN" altLang="en-US" dirty="0"/>
              <a:t>支持任意字符集（</a:t>
            </a:r>
            <a:r>
              <a:rPr lang="en-US" altLang="zh-CN" dirty="0"/>
              <a:t>UTF-8</a:t>
            </a:r>
            <a:r>
              <a:rPr lang="zh-CN" altLang="en-US" dirty="0"/>
              <a:t>），不限于英语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</a:t>
            </a:r>
            <a:r>
              <a:rPr lang="zh-CN" altLang="en-US" dirty="0"/>
              <a:t>命令行工具** </a:t>
            </a:r>
            <a:r>
              <a:rPr lang="en-US" altLang="zh-CN" dirty="0"/>
              <a:t>| </a:t>
            </a:r>
            <a:r>
              <a:rPr lang="zh-CN" altLang="en-US" dirty="0"/>
              <a:t>提供 </a:t>
            </a:r>
            <a:r>
              <a:rPr lang="en-US" altLang="zh-CN" dirty="0"/>
              <a:t>`</a:t>
            </a:r>
            <a:r>
              <a:rPr lang="en-US" altLang="zh-CN" dirty="0" err="1"/>
              <a:t>lmplz</a:t>
            </a:r>
            <a:r>
              <a:rPr lang="en-US" altLang="zh-CN" dirty="0"/>
              <a:t>`</a:t>
            </a:r>
            <a:r>
              <a:rPr lang="zh-CN" altLang="en-US" dirty="0"/>
              <a:t>（训练）、</a:t>
            </a:r>
            <a:r>
              <a:rPr lang="en-US" altLang="zh-CN" dirty="0"/>
              <a:t>`</a:t>
            </a:r>
            <a:r>
              <a:rPr lang="en-US" altLang="zh-CN" dirty="0" err="1"/>
              <a:t>build_binary</a:t>
            </a:r>
            <a:r>
              <a:rPr lang="en-US" altLang="zh-CN" dirty="0"/>
              <a:t>`</a:t>
            </a:r>
            <a:r>
              <a:rPr lang="zh-CN" altLang="en-US" dirty="0"/>
              <a:t>（转换）、</a:t>
            </a:r>
            <a:r>
              <a:rPr lang="en-US" altLang="zh-CN" dirty="0"/>
              <a:t>`query`</a:t>
            </a:r>
            <a:r>
              <a:rPr lang="zh-CN" altLang="en-US" dirty="0"/>
              <a:t>（测试）等实用工具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**C++ API** | </a:t>
            </a:r>
            <a:r>
              <a:rPr lang="zh-CN" altLang="en-US" dirty="0"/>
              <a:t>提供高性能 </a:t>
            </a:r>
            <a:r>
              <a:rPr lang="en-US" altLang="zh-CN" dirty="0"/>
              <a:t>C++ </a:t>
            </a:r>
            <a:r>
              <a:rPr lang="zh-CN" altLang="en-US" dirty="0"/>
              <a:t>接口，便于集成到其他系统（如 </a:t>
            </a:r>
            <a:r>
              <a:rPr lang="en-US" altLang="zh-CN" dirty="0"/>
              <a:t>Moses MT</a:t>
            </a:r>
            <a:r>
              <a:rPr lang="zh-CN" altLang="en-US" dirty="0"/>
              <a:t>、</a:t>
            </a:r>
            <a:r>
              <a:rPr lang="en-US" altLang="zh-CN" dirty="0"/>
              <a:t>Kaldi</a:t>
            </a:r>
            <a:r>
              <a:rPr lang="zh-CN" altLang="en-US" dirty="0"/>
              <a:t>）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**Python </a:t>
            </a:r>
            <a:r>
              <a:rPr lang="zh-CN" altLang="en-US" dirty="0"/>
              <a:t>绑定** </a:t>
            </a:r>
            <a:r>
              <a:rPr lang="en-US" altLang="zh-CN" dirty="0"/>
              <a:t>| </a:t>
            </a:r>
            <a:r>
              <a:rPr lang="zh-CN" altLang="en-US" dirty="0"/>
              <a:t>通过 </a:t>
            </a:r>
            <a:r>
              <a:rPr lang="en-US" altLang="zh-CN" dirty="0"/>
              <a:t>`</a:t>
            </a:r>
            <a:r>
              <a:rPr lang="en-US" altLang="zh-CN" dirty="0" err="1"/>
              <a:t>pykenlm</a:t>
            </a:r>
            <a:r>
              <a:rPr lang="en-US" altLang="zh-CN" dirty="0"/>
              <a:t>`</a:t>
            </a:r>
            <a:r>
              <a:rPr lang="zh-CN" altLang="en-US" dirty="0"/>
              <a:t>（见下文）提供 </a:t>
            </a:r>
            <a:r>
              <a:rPr lang="en-US" altLang="zh-CN" dirty="0"/>
              <a:t>Python </a:t>
            </a:r>
            <a:r>
              <a:rPr lang="zh-CN" altLang="en-US" dirty="0"/>
              <a:t>接口 </a:t>
            </a:r>
            <a:r>
              <a:rPr lang="en-US" altLang="zh-CN" dirty="0"/>
              <a:t>|</a:t>
            </a:r>
          </a:p>
          <a:p>
            <a:endParaRPr lang="en-US" altLang="zh-CN" dirty="0"/>
          </a:p>
          <a:p>
            <a:r>
              <a:rPr lang="en-US" altLang="zh-CN" dirty="0"/>
              <a:t>### </a:t>
            </a:r>
            <a:r>
              <a:rPr lang="zh-CN" altLang="en-US" dirty="0"/>
              <a:t>🛠️ 基本使用流程示例：</a:t>
            </a:r>
          </a:p>
          <a:p>
            <a:endParaRPr lang="zh-CN" altLang="en-US" dirty="0"/>
          </a:p>
          <a:p>
            <a:r>
              <a:rPr lang="en-US" altLang="zh-CN" dirty="0"/>
              <a:t>```bash</a:t>
            </a:r>
          </a:p>
          <a:p>
            <a:r>
              <a:rPr lang="en-US" altLang="zh-CN" dirty="0"/>
              <a:t># 1. </a:t>
            </a:r>
            <a:r>
              <a:rPr lang="zh-CN" altLang="en-US" dirty="0"/>
              <a:t>训练 </a:t>
            </a:r>
            <a:r>
              <a:rPr lang="en-US" altLang="zh-CN" dirty="0"/>
              <a:t>n-gram </a:t>
            </a:r>
            <a:r>
              <a:rPr lang="zh-CN" altLang="en-US" dirty="0"/>
              <a:t>模型（从文本文件）</a:t>
            </a:r>
          </a:p>
          <a:p>
            <a:r>
              <a:rPr lang="en-US" altLang="zh-CN" dirty="0" err="1"/>
              <a:t>lmplz</a:t>
            </a:r>
            <a:r>
              <a:rPr lang="en-US" altLang="zh-CN" dirty="0"/>
              <a:t> -o 5 &lt; corpus.txt &gt; </a:t>
            </a:r>
            <a:r>
              <a:rPr lang="en-US" altLang="zh-CN" dirty="0" err="1"/>
              <a:t>model.arpa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 2. </a:t>
            </a:r>
            <a:r>
              <a:rPr lang="zh-CN" altLang="en-US" dirty="0"/>
              <a:t>转换为二进制格式（用于高效加载）</a:t>
            </a:r>
          </a:p>
          <a:p>
            <a:r>
              <a:rPr lang="en-US" altLang="zh-CN" dirty="0" err="1"/>
              <a:t>build_binary</a:t>
            </a:r>
            <a:r>
              <a:rPr lang="en-US" altLang="zh-CN" dirty="0"/>
              <a:t> </a:t>
            </a:r>
            <a:r>
              <a:rPr lang="en-US" altLang="zh-CN" dirty="0" err="1"/>
              <a:t>model.arpa</a:t>
            </a:r>
            <a:r>
              <a:rPr lang="en-US" altLang="zh-CN" dirty="0"/>
              <a:t> </a:t>
            </a:r>
            <a:r>
              <a:rPr lang="en-US" altLang="zh-CN" dirty="0" err="1"/>
              <a:t>model.bin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 3. </a:t>
            </a:r>
            <a:r>
              <a:rPr lang="zh-CN" altLang="en-US" dirty="0"/>
              <a:t>查询概率（</a:t>
            </a:r>
            <a:r>
              <a:rPr lang="en-US" altLang="zh-CN" dirty="0"/>
              <a:t>C++ </a:t>
            </a:r>
            <a:r>
              <a:rPr lang="zh-CN" altLang="en-US" dirty="0"/>
              <a:t>或 </a:t>
            </a:r>
            <a:r>
              <a:rPr lang="en-US" altLang="zh-CN" dirty="0"/>
              <a:t>Python</a:t>
            </a:r>
            <a:r>
              <a:rPr lang="zh-CN" altLang="en-US" dirty="0"/>
              <a:t>）</a:t>
            </a:r>
          </a:p>
          <a:p>
            <a:r>
              <a:rPr lang="en-US" altLang="zh-CN" dirty="0"/>
              <a:t>query "the quick brown fox"  # </a:t>
            </a:r>
            <a:r>
              <a:rPr lang="zh-CN" altLang="en-US" dirty="0"/>
              <a:t>输出 </a:t>
            </a:r>
            <a:r>
              <a:rPr lang="en-US" altLang="zh-CN" dirty="0"/>
              <a:t>log probability</a:t>
            </a:r>
          </a:p>
          <a:p>
            <a:r>
              <a:rPr lang="en-US" altLang="zh-CN" dirty="0"/>
              <a:t>```</a:t>
            </a:r>
          </a:p>
          <a:p>
            <a:endParaRPr lang="en-US" altLang="zh-CN" dirty="0"/>
          </a:p>
          <a:p>
            <a:r>
              <a:rPr lang="en-US" altLang="zh-CN" dirty="0"/>
              <a:t>&gt; </a:t>
            </a:r>
            <a:r>
              <a:rPr lang="zh-CN" altLang="en-US" dirty="0"/>
              <a:t>💡 它不使用神经网络，而是传统统计 </a:t>
            </a:r>
            <a:r>
              <a:rPr lang="en-US" altLang="zh-CN" dirty="0"/>
              <a:t>n-gram </a:t>
            </a:r>
            <a:r>
              <a:rPr lang="zh-CN" altLang="en-US" dirty="0"/>
              <a:t>模型 </a:t>
            </a:r>
            <a:r>
              <a:rPr lang="en-US" altLang="zh-CN" dirty="0"/>
              <a:t>—— </a:t>
            </a:r>
            <a:r>
              <a:rPr lang="zh-CN" altLang="en-US" dirty="0"/>
              <a:t>但比大多数开源实现快 </a:t>
            </a:r>
            <a:r>
              <a:rPr lang="en-US" altLang="zh-CN" dirty="0"/>
              <a:t>10~100 </a:t>
            </a:r>
            <a:r>
              <a:rPr lang="zh-CN" altLang="en-US" dirty="0"/>
              <a:t>倍。</a:t>
            </a:r>
          </a:p>
          <a:p>
            <a:endParaRPr lang="zh-CN" altLang="en-US" dirty="0"/>
          </a:p>
          <a:p>
            <a:r>
              <a:rPr lang="en-US" altLang="zh-CN" dirty="0"/>
              <a:t>---</a:t>
            </a:r>
          </a:p>
          <a:p>
            <a:endParaRPr lang="en-US" altLang="zh-CN" dirty="0"/>
          </a:p>
          <a:p>
            <a:r>
              <a:rPr lang="en-US" altLang="zh-CN" dirty="0"/>
              <a:t>## </a:t>
            </a:r>
            <a:r>
              <a:rPr lang="zh-CN" altLang="en-US" dirty="0"/>
              <a:t>✅ 二、</a:t>
            </a:r>
            <a:r>
              <a:rPr lang="en-US" altLang="zh-CN" dirty="0"/>
              <a:t>Python </a:t>
            </a:r>
            <a:r>
              <a:rPr lang="zh-CN" altLang="en-US" dirty="0"/>
              <a:t>封装：</a:t>
            </a:r>
            <a:r>
              <a:rPr lang="en-US" altLang="zh-CN" dirty="0" err="1"/>
              <a:t>pykenlm</a:t>
            </a:r>
            <a:r>
              <a:rPr lang="zh-CN" altLang="en-US" dirty="0"/>
              <a:t>（最常用接口）</a:t>
            </a:r>
          </a:p>
          <a:p>
            <a:endParaRPr lang="zh-CN" altLang="en-US" dirty="0"/>
          </a:p>
          <a:p>
            <a:r>
              <a:rPr lang="en-US" altLang="zh-CN" dirty="0"/>
              <a:t>### </a:t>
            </a:r>
            <a:r>
              <a:rPr lang="zh-CN" altLang="en-US" dirty="0"/>
              <a:t>🔗 </a:t>
            </a:r>
            <a:r>
              <a:rPr lang="en-US" altLang="zh-CN" dirty="0"/>
              <a:t>GitHub: https://github.com/kpu/kenlm/tree/master/python</a:t>
            </a:r>
          </a:p>
          <a:p>
            <a:endParaRPr lang="en-US" altLang="zh-CN" dirty="0"/>
          </a:p>
          <a:p>
            <a:r>
              <a:rPr lang="zh-CN" altLang="en-US" dirty="0"/>
              <a:t>虽然 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本身是 </a:t>
            </a:r>
            <a:r>
              <a:rPr lang="en-US" altLang="zh-CN" dirty="0"/>
              <a:t>C++ </a:t>
            </a:r>
            <a:r>
              <a:rPr lang="zh-CN" altLang="en-US" dirty="0"/>
              <a:t>实现，但官方提供了**</a:t>
            </a:r>
            <a:r>
              <a:rPr lang="en-US" altLang="zh-CN" dirty="0"/>
              <a:t>Python </a:t>
            </a:r>
            <a:r>
              <a:rPr lang="zh-CN" altLang="en-US" dirty="0"/>
              <a:t>绑定**（基于 </a:t>
            </a:r>
            <a:r>
              <a:rPr lang="en-US" altLang="zh-CN" dirty="0" err="1"/>
              <a:t>Cython</a:t>
            </a:r>
            <a:r>
              <a:rPr lang="zh-CN" altLang="en-US" dirty="0"/>
              <a:t>），是目前**最主流的使用方式**。</a:t>
            </a:r>
          </a:p>
          <a:p>
            <a:endParaRPr lang="zh-CN" altLang="en-US" dirty="0"/>
          </a:p>
          <a:p>
            <a:r>
              <a:rPr lang="en-US" altLang="zh-CN" dirty="0"/>
              <a:t>### </a:t>
            </a:r>
            <a:r>
              <a:rPr lang="zh-CN" altLang="en-US" dirty="0"/>
              <a:t>✅ 安装方法（推荐）：</a:t>
            </a:r>
          </a:p>
          <a:p>
            <a:endParaRPr lang="zh-CN" altLang="en-US" dirty="0"/>
          </a:p>
          <a:p>
            <a:r>
              <a:rPr lang="en-US" altLang="zh-CN" dirty="0"/>
              <a:t>```bash</a:t>
            </a:r>
          </a:p>
          <a:p>
            <a:r>
              <a:rPr lang="en-US" altLang="zh-CN" dirty="0"/>
              <a:t>pip install </a:t>
            </a:r>
            <a:r>
              <a:rPr lang="en-US" altLang="zh-CN" dirty="0" err="1"/>
              <a:t>kenlm</a:t>
            </a:r>
            <a:endParaRPr lang="en-US" altLang="zh-CN" dirty="0"/>
          </a:p>
          <a:p>
            <a:r>
              <a:rPr lang="en-US" altLang="zh-CN" dirty="0"/>
              <a:t>```</a:t>
            </a:r>
          </a:p>
          <a:p>
            <a:endParaRPr lang="en-US" altLang="zh-CN" dirty="0"/>
          </a:p>
          <a:p>
            <a:r>
              <a:rPr lang="en-US" altLang="zh-CN" dirty="0"/>
              <a:t>&gt; ⚠️ </a:t>
            </a:r>
            <a:r>
              <a:rPr lang="zh-CN" altLang="en-US" dirty="0"/>
              <a:t>注意：不是 </a:t>
            </a:r>
            <a:r>
              <a:rPr lang="en-US" altLang="zh-CN" dirty="0"/>
              <a:t>`pip install </a:t>
            </a:r>
            <a:r>
              <a:rPr lang="en-US" altLang="zh-CN" dirty="0" err="1"/>
              <a:t>pykenlm</a:t>
            </a:r>
            <a:r>
              <a:rPr lang="en-US" altLang="zh-CN" dirty="0"/>
              <a:t>`</a:t>
            </a:r>
            <a:r>
              <a:rPr lang="zh-CN" altLang="en-US" dirty="0"/>
              <a:t>（旧项目已废弃），现在官方维护的包名为 </a:t>
            </a:r>
            <a:r>
              <a:rPr lang="en-US" altLang="zh-CN" dirty="0"/>
              <a:t>`</a:t>
            </a:r>
            <a:r>
              <a:rPr lang="en-US" altLang="zh-CN" dirty="0" err="1"/>
              <a:t>kenlm</a:t>
            </a:r>
            <a:r>
              <a:rPr lang="en-US" altLang="zh-CN" dirty="0"/>
              <a:t>`</a:t>
            </a:r>
            <a:r>
              <a:rPr lang="zh-CN" altLang="en-US" dirty="0"/>
              <a:t>（</a:t>
            </a:r>
            <a:r>
              <a:rPr lang="en-US" altLang="zh-CN" dirty="0" err="1"/>
              <a:t>PyPI</a:t>
            </a:r>
            <a:r>
              <a:rPr lang="en-US" altLang="zh-CN" dirty="0"/>
              <a:t> </a:t>
            </a:r>
            <a:r>
              <a:rPr lang="zh-CN" altLang="en-US" dirty="0"/>
              <a:t>包名）。</a:t>
            </a:r>
          </a:p>
          <a:p>
            <a:endParaRPr lang="zh-CN" altLang="en-US" dirty="0"/>
          </a:p>
          <a:p>
            <a:r>
              <a:rPr lang="en-US" altLang="zh-CN" dirty="0"/>
              <a:t>### </a:t>
            </a:r>
            <a:r>
              <a:rPr lang="zh-CN" altLang="en-US" dirty="0"/>
              <a:t>🐍 使用示例：</a:t>
            </a:r>
          </a:p>
          <a:p>
            <a:endParaRPr lang="zh-CN" altLang="en-US" dirty="0"/>
          </a:p>
          <a:p>
            <a:r>
              <a:rPr lang="en-US" altLang="zh-CN" dirty="0"/>
              <a:t>```python</a:t>
            </a:r>
          </a:p>
          <a:p>
            <a:r>
              <a:rPr lang="en-US" altLang="zh-CN" dirty="0"/>
              <a:t>import </a:t>
            </a:r>
            <a:r>
              <a:rPr lang="en-US" altLang="zh-CN" dirty="0" err="1"/>
              <a:t>kenlm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加载二进制模型</a:t>
            </a:r>
          </a:p>
          <a:p>
            <a:r>
              <a:rPr lang="en-US" altLang="zh-CN" dirty="0"/>
              <a:t>model = </a:t>
            </a:r>
            <a:r>
              <a:rPr lang="en-US" altLang="zh-CN" dirty="0" err="1"/>
              <a:t>kenlm.Model</a:t>
            </a:r>
            <a:r>
              <a:rPr lang="en-US" altLang="zh-CN" dirty="0"/>
              <a:t>('</a:t>
            </a:r>
            <a:r>
              <a:rPr lang="en-US" altLang="zh-CN" dirty="0" err="1"/>
              <a:t>model.bin</a:t>
            </a:r>
            <a:r>
              <a:rPr lang="en-US" altLang="zh-CN" dirty="0"/>
              <a:t>')</a:t>
            </a:r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查询句子概率（</a:t>
            </a:r>
            <a:r>
              <a:rPr lang="en-US" altLang="zh-CN" dirty="0"/>
              <a:t>log prob</a:t>
            </a:r>
            <a:r>
              <a:rPr lang="zh-CN" altLang="en-US" dirty="0"/>
              <a:t>）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model.score</a:t>
            </a:r>
            <a:r>
              <a:rPr lang="en-US" altLang="zh-CN" dirty="0"/>
              <a:t>("the quick brown fox"))  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输出</a:t>
            </a:r>
            <a:r>
              <a:rPr lang="en-US" altLang="zh-CN" dirty="0"/>
              <a:t>: -7.23456</a:t>
            </a:r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获取每个词的贡献</a:t>
            </a:r>
          </a:p>
          <a:p>
            <a:r>
              <a:rPr lang="en-US" altLang="zh-CN" dirty="0"/>
              <a:t>for phrase, score in zip(</a:t>
            </a:r>
            <a:r>
              <a:rPr lang="en-US" altLang="zh-CN" dirty="0" err="1"/>
              <a:t>model.full_scores</a:t>
            </a:r>
            <a:r>
              <a:rPr lang="en-US" altLang="zh-CN" dirty="0"/>
              <a:t>("the quick brown fox"), </a:t>
            </a:r>
          </a:p>
          <a:p>
            <a:r>
              <a:rPr lang="en-US" altLang="zh-CN" dirty="0"/>
              <a:t>                         "the quick brown </a:t>
            </a:r>
            <a:r>
              <a:rPr lang="en-US" altLang="zh-CN" dirty="0" err="1"/>
              <a:t>fox".split</a:t>
            </a:r>
            <a:r>
              <a:rPr lang="en-US" altLang="zh-CN" dirty="0"/>
              <a:t>()):</a:t>
            </a:r>
          </a:p>
          <a:p>
            <a:r>
              <a:rPr lang="en-US" altLang="zh-CN" dirty="0"/>
              <a:t>    print(f"{phrase[2]}: {phrase[0]:.4f}")</a:t>
            </a:r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获取句子完整概率（包括 </a:t>
            </a:r>
            <a:r>
              <a:rPr lang="en-US" altLang="zh-CN" dirty="0"/>
              <a:t>BOS/EOS</a:t>
            </a:r>
            <a:r>
              <a:rPr lang="zh-CN" altLang="en-US" dirty="0"/>
              <a:t>）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model.perplexity</a:t>
            </a:r>
            <a:r>
              <a:rPr lang="en-US" altLang="zh-CN" dirty="0"/>
              <a:t>("the quick brown fox"))</a:t>
            </a:r>
          </a:p>
          <a:p>
            <a:r>
              <a:rPr lang="en-US" altLang="zh-CN" dirty="0"/>
              <a:t>```</a:t>
            </a:r>
          </a:p>
          <a:p>
            <a:endParaRPr lang="en-US" altLang="zh-CN" dirty="0"/>
          </a:p>
          <a:p>
            <a:r>
              <a:rPr lang="en-US" altLang="zh-CN" dirty="0"/>
              <a:t>### </a:t>
            </a:r>
            <a:r>
              <a:rPr lang="zh-CN" altLang="en-US" dirty="0"/>
              <a:t>✅ 功能亮点：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支持批量预测（高效）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支持获取 </a:t>
            </a:r>
            <a:r>
              <a:rPr lang="en-US" altLang="zh-CN" dirty="0"/>
              <a:t>n-gram </a:t>
            </a:r>
            <a:r>
              <a:rPr lang="zh-CN" altLang="en-US" dirty="0"/>
              <a:t>分数、词级别贡献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支持 </a:t>
            </a:r>
            <a:r>
              <a:rPr lang="en-US" altLang="zh-CN" dirty="0"/>
              <a:t>`</a:t>
            </a:r>
            <a:r>
              <a:rPr lang="en-US" altLang="zh-CN" dirty="0" err="1"/>
              <a:t>full_scores</a:t>
            </a:r>
            <a:r>
              <a:rPr lang="en-US" altLang="zh-CN" dirty="0"/>
              <a:t>()` </a:t>
            </a:r>
            <a:r>
              <a:rPr lang="zh-CN" altLang="en-US" dirty="0"/>
              <a:t>返回每个位置的三元组：</a:t>
            </a:r>
            <a:r>
              <a:rPr lang="en-US" altLang="zh-CN" dirty="0"/>
              <a:t>`(</a:t>
            </a:r>
            <a:r>
              <a:rPr lang="en-US" altLang="zh-CN" dirty="0" err="1"/>
              <a:t>log_prob</a:t>
            </a:r>
            <a:r>
              <a:rPr lang="en-US" altLang="zh-CN" dirty="0"/>
              <a:t>, </a:t>
            </a:r>
            <a:r>
              <a:rPr lang="en-US" altLang="zh-CN" dirty="0" err="1"/>
              <a:t>order_used</a:t>
            </a:r>
            <a:r>
              <a:rPr lang="en-US" altLang="zh-CN" dirty="0"/>
              <a:t>, </a:t>
            </a:r>
            <a:r>
              <a:rPr lang="en-US" altLang="zh-CN" dirty="0" err="1"/>
              <a:t>oov</a:t>
            </a:r>
            <a:r>
              <a:rPr lang="en-US" altLang="zh-CN" dirty="0"/>
              <a:t>)`  </a:t>
            </a:r>
          </a:p>
          <a:p>
            <a:r>
              <a:rPr lang="en-US" altLang="zh-CN" dirty="0"/>
              <a:t>  → </a:t>
            </a:r>
            <a:r>
              <a:rPr lang="zh-CN" altLang="en-US" dirty="0"/>
              <a:t>可用于分析模型置信度、</a:t>
            </a:r>
            <a:r>
              <a:rPr lang="en-US" altLang="zh-CN" dirty="0"/>
              <a:t>OOV </a:t>
            </a:r>
            <a:r>
              <a:rPr lang="zh-CN" altLang="en-US" dirty="0"/>
              <a:t>处理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与 </a:t>
            </a:r>
            <a:r>
              <a:rPr lang="en-US" altLang="zh-CN" dirty="0"/>
              <a:t>Hugging Face</a:t>
            </a:r>
            <a:r>
              <a:rPr lang="zh-CN" altLang="en-US" dirty="0"/>
              <a:t>、</a:t>
            </a:r>
            <a:r>
              <a:rPr lang="en-US" altLang="zh-CN" dirty="0" err="1"/>
              <a:t>Fairseq</a:t>
            </a:r>
            <a:r>
              <a:rPr lang="zh-CN" altLang="en-US" dirty="0"/>
              <a:t>、</a:t>
            </a:r>
            <a:r>
              <a:rPr lang="en-US" altLang="zh-CN" dirty="0" err="1"/>
              <a:t>ESPnet</a:t>
            </a:r>
            <a:r>
              <a:rPr lang="en-US" altLang="zh-CN" dirty="0"/>
              <a:t> </a:t>
            </a:r>
            <a:r>
              <a:rPr lang="zh-CN" altLang="en-US" dirty="0"/>
              <a:t>等框架兼容</a:t>
            </a:r>
          </a:p>
          <a:p>
            <a:endParaRPr lang="zh-CN" altLang="en-US" dirty="0"/>
          </a:p>
          <a:p>
            <a:r>
              <a:rPr lang="en-US" altLang="zh-CN" dirty="0"/>
              <a:t>&gt; </a:t>
            </a:r>
            <a:r>
              <a:rPr lang="zh-CN" altLang="en-US" dirty="0"/>
              <a:t>✅ 这是目前**绝大多数研究者和工业界使用的 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入口**。</a:t>
            </a:r>
          </a:p>
          <a:p>
            <a:endParaRPr lang="zh-CN" altLang="en-US" dirty="0"/>
          </a:p>
          <a:p>
            <a:r>
              <a:rPr lang="en-US" altLang="zh-CN" dirty="0"/>
              <a:t>---</a:t>
            </a:r>
          </a:p>
          <a:p>
            <a:endParaRPr lang="en-US" altLang="zh-CN" dirty="0"/>
          </a:p>
          <a:p>
            <a:r>
              <a:rPr lang="en-US" altLang="zh-CN" dirty="0"/>
              <a:t>## </a:t>
            </a:r>
            <a:r>
              <a:rPr lang="zh-CN" altLang="en-US" dirty="0"/>
              <a:t>✅ 三、相关开源项目（基于 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构建）</a:t>
            </a:r>
          </a:p>
          <a:p>
            <a:endParaRPr lang="zh-CN" altLang="en-US" dirty="0"/>
          </a:p>
          <a:p>
            <a:r>
              <a:rPr lang="en-US" altLang="zh-CN" dirty="0"/>
              <a:t>### 1. **Moses Statistical Machine Translation**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🔗 </a:t>
            </a:r>
            <a:r>
              <a:rPr lang="en-US" altLang="zh-CN" dirty="0"/>
              <a:t>https://github.com/moses-smt/mosesdecoder</a:t>
            </a:r>
          </a:p>
          <a:p>
            <a:r>
              <a:rPr lang="en-US" altLang="zh-CN" dirty="0"/>
              <a:t>- 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是 </a:t>
            </a:r>
            <a:r>
              <a:rPr lang="en-US" altLang="zh-CN" dirty="0"/>
              <a:t>Moses </a:t>
            </a:r>
            <a:r>
              <a:rPr lang="zh-CN" altLang="en-US" dirty="0"/>
              <a:t>系统的**默认语言模型后端**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在机器翻译中，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用于重排序（</a:t>
            </a:r>
            <a:r>
              <a:rPr lang="en-US" altLang="zh-CN" dirty="0"/>
              <a:t>re-ranking</a:t>
            </a:r>
            <a:r>
              <a:rPr lang="zh-CN" altLang="en-US" dirty="0"/>
              <a:t>）阶段，极大提升 </a:t>
            </a:r>
            <a:r>
              <a:rPr lang="en-US" altLang="zh-CN" dirty="0"/>
              <a:t>BLEU </a:t>
            </a:r>
            <a:r>
              <a:rPr lang="zh-CN" altLang="en-US" dirty="0"/>
              <a:t>分数</a:t>
            </a:r>
          </a:p>
          <a:p>
            <a:endParaRPr lang="zh-CN" altLang="en-US" dirty="0"/>
          </a:p>
          <a:p>
            <a:r>
              <a:rPr lang="en-US" altLang="zh-CN" dirty="0"/>
              <a:t>### 2. **Kaldi Speech Recognition Toolkit**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🔗 </a:t>
            </a:r>
            <a:r>
              <a:rPr lang="en-US" altLang="zh-CN" dirty="0"/>
              <a:t>https://github.com/kaldi-asr/kaldi</a:t>
            </a:r>
          </a:p>
          <a:p>
            <a:r>
              <a:rPr lang="en-US" altLang="zh-CN" dirty="0"/>
              <a:t>- Kaldi </a:t>
            </a:r>
            <a:r>
              <a:rPr lang="zh-CN" altLang="en-US" dirty="0"/>
              <a:t>使用 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作为语言模型组件，用于语音识别中的解码器（</a:t>
            </a:r>
            <a:r>
              <a:rPr lang="en-US" altLang="zh-CN" dirty="0"/>
              <a:t>decoding</a:t>
            </a:r>
            <a:r>
              <a:rPr lang="zh-CN" altLang="en-US" dirty="0"/>
              <a:t>）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支持与 </a:t>
            </a:r>
            <a:r>
              <a:rPr lang="en-US" altLang="zh-CN" dirty="0"/>
              <a:t>WFST</a:t>
            </a:r>
            <a:r>
              <a:rPr lang="zh-CN" altLang="en-US" dirty="0"/>
              <a:t>（加权有限状态转换器）无缝集成</a:t>
            </a:r>
          </a:p>
          <a:p>
            <a:endParaRPr lang="zh-CN" altLang="en-US" dirty="0"/>
          </a:p>
          <a:p>
            <a:r>
              <a:rPr lang="en-US" altLang="zh-CN" dirty="0"/>
              <a:t>### 3. **SPTK (Speech Processing Toolkit)**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集成 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用于语音合成和识别中的语言建模模块</a:t>
            </a:r>
          </a:p>
          <a:p>
            <a:endParaRPr lang="zh-CN" altLang="en-US" dirty="0"/>
          </a:p>
          <a:p>
            <a:r>
              <a:rPr lang="en-US" altLang="zh-CN" dirty="0"/>
              <a:t>### 4. **</a:t>
            </a:r>
            <a:r>
              <a:rPr lang="en-US" altLang="zh-CN" dirty="0" err="1"/>
              <a:t>FastText</a:t>
            </a:r>
            <a:r>
              <a:rPr lang="en-US" altLang="zh-CN" dirty="0"/>
              <a:t> + 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混合系统（学术研究）**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一些论文结合 </a:t>
            </a:r>
            <a:r>
              <a:rPr lang="en-US" altLang="zh-CN" dirty="0" err="1"/>
              <a:t>FastText</a:t>
            </a:r>
            <a:r>
              <a:rPr lang="zh-CN" altLang="en-US" dirty="0"/>
              <a:t>（词向量）与 </a:t>
            </a:r>
            <a:r>
              <a:rPr lang="en-US" altLang="zh-CN" dirty="0" err="1"/>
              <a:t>KenLM</a:t>
            </a:r>
            <a:r>
              <a:rPr lang="zh-CN" altLang="en-US" dirty="0"/>
              <a:t>（</a:t>
            </a:r>
            <a:r>
              <a:rPr lang="en-US" altLang="zh-CN" dirty="0"/>
              <a:t>n-gram</a:t>
            </a:r>
            <a:r>
              <a:rPr lang="zh-CN" altLang="en-US" dirty="0"/>
              <a:t>）做混合语言模型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利用 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的高效性和 </a:t>
            </a:r>
            <a:r>
              <a:rPr lang="en-US" altLang="zh-CN" dirty="0" err="1"/>
              <a:t>FastText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dirty="0"/>
              <a:t>OOV </a:t>
            </a:r>
            <a:r>
              <a:rPr lang="zh-CN" altLang="en-US" dirty="0"/>
              <a:t>泛化能力</a:t>
            </a:r>
          </a:p>
          <a:p>
            <a:endParaRPr lang="zh-CN" altLang="en-US" dirty="0"/>
          </a:p>
          <a:p>
            <a:r>
              <a:rPr lang="en-US" altLang="zh-CN" dirty="0"/>
              <a:t>### 5. **Hugging Face Transformers</a:t>
            </a:r>
            <a:r>
              <a:rPr lang="zh-CN" altLang="en-US" dirty="0"/>
              <a:t>（间接支持）**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虽然 </a:t>
            </a:r>
            <a:r>
              <a:rPr lang="en-US" altLang="zh-CN" dirty="0"/>
              <a:t>HF </a:t>
            </a:r>
            <a:r>
              <a:rPr lang="zh-CN" altLang="en-US" dirty="0"/>
              <a:t>主推 </a:t>
            </a:r>
            <a:r>
              <a:rPr lang="en-US" altLang="zh-CN" dirty="0"/>
              <a:t>Transformer LM</a:t>
            </a:r>
            <a:r>
              <a:rPr lang="zh-CN" altLang="en-US" dirty="0"/>
              <a:t>（</a:t>
            </a:r>
            <a:r>
              <a:rPr lang="en-US" altLang="zh-CN" dirty="0"/>
              <a:t>GPT</a:t>
            </a:r>
            <a:r>
              <a:rPr lang="zh-CN" altLang="en-US" dirty="0"/>
              <a:t>、</a:t>
            </a:r>
            <a:r>
              <a:rPr lang="en-US" altLang="zh-CN" dirty="0"/>
              <a:t>BERT</a:t>
            </a:r>
            <a:r>
              <a:rPr lang="zh-CN" altLang="en-US" dirty="0"/>
              <a:t>），但其 </a:t>
            </a:r>
            <a:r>
              <a:rPr lang="en-US" altLang="zh-CN" dirty="0"/>
              <a:t>`transformers` </a:t>
            </a:r>
            <a:r>
              <a:rPr lang="zh-CN" altLang="en-US" dirty="0"/>
              <a:t>库的某些评估脚本（如 </a:t>
            </a:r>
            <a:r>
              <a:rPr lang="en-US" altLang="zh-CN" dirty="0"/>
              <a:t>perplexity </a:t>
            </a:r>
            <a:r>
              <a:rPr lang="zh-CN" altLang="en-US" dirty="0"/>
              <a:t>计算）支持调用 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作为基准对比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社区有封装库如 </a:t>
            </a:r>
            <a:r>
              <a:rPr lang="en-US" altLang="zh-CN" dirty="0"/>
              <a:t>[`</a:t>
            </a:r>
            <a:r>
              <a:rPr lang="en-US" altLang="zh-CN" dirty="0" err="1"/>
              <a:t>huggingface</a:t>
            </a:r>
            <a:r>
              <a:rPr lang="en-US" altLang="zh-CN" dirty="0"/>
              <a:t>-hub`](https://huggingface.co/docs/hub/) + `</a:t>
            </a:r>
            <a:r>
              <a:rPr lang="en-US" altLang="zh-CN" dirty="0" err="1"/>
              <a:t>kenlm</a:t>
            </a:r>
            <a:r>
              <a:rPr lang="en-US" altLang="zh-CN" dirty="0"/>
              <a:t>` </a:t>
            </a:r>
            <a:r>
              <a:rPr lang="zh-CN" altLang="en-US" dirty="0"/>
              <a:t>用于对比实验</a:t>
            </a:r>
          </a:p>
          <a:p>
            <a:endParaRPr lang="zh-CN" altLang="en-US" dirty="0"/>
          </a:p>
          <a:p>
            <a:r>
              <a:rPr lang="en-US" altLang="zh-CN" dirty="0"/>
              <a:t>---</a:t>
            </a:r>
          </a:p>
          <a:p>
            <a:endParaRPr lang="en-US" altLang="zh-CN" dirty="0"/>
          </a:p>
          <a:p>
            <a:r>
              <a:rPr lang="en-US" altLang="zh-CN" dirty="0"/>
              <a:t>## </a:t>
            </a:r>
            <a:r>
              <a:rPr lang="zh-CN" altLang="en-US" dirty="0"/>
              <a:t>✅ 四、替代品 </a:t>
            </a:r>
            <a:r>
              <a:rPr lang="en-US" altLang="zh-CN" dirty="0"/>
              <a:t>vs </a:t>
            </a:r>
            <a:r>
              <a:rPr lang="en-US" altLang="zh-CN" dirty="0" err="1"/>
              <a:t>KenLM</a:t>
            </a:r>
            <a:r>
              <a:rPr lang="zh-CN" altLang="en-US" dirty="0"/>
              <a:t>（非 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实现，但常被拿来比较）</a:t>
            </a:r>
          </a:p>
          <a:p>
            <a:endParaRPr lang="zh-CN" altLang="en-US" dirty="0"/>
          </a:p>
          <a:p>
            <a:r>
              <a:rPr lang="en-US" altLang="zh-CN" dirty="0"/>
              <a:t>| </a:t>
            </a:r>
            <a:r>
              <a:rPr lang="zh-CN" altLang="en-US" dirty="0"/>
              <a:t>工具 </a:t>
            </a:r>
            <a:r>
              <a:rPr lang="en-US" altLang="zh-CN" dirty="0"/>
              <a:t>| </a:t>
            </a:r>
            <a:r>
              <a:rPr lang="zh-CN" altLang="en-US" dirty="0"/>
              <a:t>是否 </a:t>
            </a:r>
            <a:r>
              <a:rPr lang="en-US" altLang="zh-CN" dirty="0" err="1"/>
              <a:t>KenLM</a:t>
            </a:r>
            <a:r>
              <a:rPr lang="zh-CN" altLang="en-US" dirty="0"/>
              <a:t>？ </a:t>
            </a:r>
            <a:r>
              <a:rPr lang="en-US" altLang="zh-CN" dirty="0"/>
              <a:t>| </a:t>
            </a:r>
            <a:r>
              <a:rPr lang="zh-CN" altLang="en-US" dirty="0"/>
              <a:t>说明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|------|---------------|------|</a:t>
            </a:r>
          </a:p>
          <a:p>
            <a:r>
              <a:rPr lang="en-US" altLang="zh-CN" dirty="0"/>
              <a:t>| **SRILM** | </a:t>
            </a:r>
            <a:r>
              <a:rPr lang="zh-CN" altLang="en-US" dirty="0"/>
              <a:t>❌ </a:t>
            </a:r>
            <a:r>
              <a:rPr lang="en-US" altLang="zh-CN" dirty="0"/>
              <a:t>| </a:t>
            </a:r>
            <a:r>
              <a:rPr lang="zh-CN" altLang="en-US" dirty="0"/>
              <a:t>更早的 </a:t>
            </a:r>
            <a:r>
              <a:rPr lang="en-US" altLang="zh-CN" dirty="0"/>
              <a:t>n-gram </a:t>
            </a:r>
            <a:r>
              <a:rPr lang="zh-CN" altLang="en-US" dirty="0"/>
              <a:t>工具，功能类似，但慢、内存占用高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**IRSTLM** | </a:t>
            </a:r>
            <a:r>
              <a:rPr lang="zh-CN" altLang="en-US" dirty="0"/>
              <a:t>❌ </a:t>
            </a:r>
            <a:r>
              <a:rPr lang="en-US" altLang="zh-CN" dirty="0"/>
              <a:t>| </a:t>
            </a:r>
            <a:r>
              <a:rPr lang="zh-CN" altLang="en-US" dirty="0"/>
              <a:t>由意大利语料库项目开发，曾流行，现已少用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**FST-based LM (</a:t>
            </a:r>
            <a:r>
              <a:rPr lang="en-US" altLang="zh-CN" dirty="0" err="1"/>
              <a:t>OpenFST</a:t>
            </a:r>
            <a:r>
              <a:rPr lang="en-US" altLang="zh-CN" dirty="0"/>
              <a:t>)** | </a:t>
            </a:r>
            <a:r>
              <a:rPr lang="zh-CN" altLang="en-US" dirty="0"/>
              <a:t>❌ </a:t>
            </a:r>
            <a:r>
              <a:rPr lang="en-US" altLang="zh-CN" dirty="0"/>
              <a:t>| </a:t>
            </a:r>
            <a:r>
              <a:rPr lang="zh-CN" altLang="en-US" dirty="0"/>
              <a:t>用于语音识别，可表达复杂语法，但构建复杂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**WordPiece/BPE + Transformer LM** | </a:t>
            </a:r>
            <a:r>
              <a:rPr lang="zh-CN" altLang="en-US" dirty="0"/>
              <a:t>❌ </a:t>
            </a:r>
            <a:r>
              <a:rPr lang="en-US" altLang="zh-CN" dirty="0"/>
              <a:t>| </a:t>
            </a:r>
            <a:r>
              <a:rPr lang="zh-CN" altLang="en-US" dirty="0"/>
              <a:t>如 </a:t>
            </a:r>
            <a:r>
              <a:rPr lang="en-US" altLang="zh-CN" dirty="0"/>
              <a:t>GPT</a:t>
            </a:r>
            <a:r>
              <a:rPr lang="zh-CN" altLang="en-US" dirty="0"/>
              <a:t>、</a:t>
            </a:r>
            <a:r>
              <a:rPr lang="en-US" altLang="zh-CN" dirty="0"/>
              <a:t>BERT</a:t>
            </a:r>
            <a:r>
              <a:rPr lang="zh-CN" altLang="en-US" dirty="0"/>
              <a:t>，属于神经语言模型，非统计 </a:t>
            </a:r>
            <a:r>
              <a:rPr lang="en-US" altLang="zh-CN" dirty="0"/>
              <a:t>n-gram |</a:t>
            </a:r>
          </a:p>
          <a:p>
            <a:r>
              <a:rPr lang="en-US" altLang="zh-CN" dirty="0"/>
              <a:t>| **</a:t>
            </a:r>
            <a:r>
              <a:rPr lang="en-US" altLang="zh-CN" dirty="0" err="1"/>
              <a:t>NGramLM</a:t>
            </a:r>
            <a:r>
              <a:rPr lang="en-US" altLang="zh-CN" dirty="0"/>
              <a:t> (TensorFlow/</a:t>
            </a:r>
            <a:r>
              <a:rPr lang="en-US" altLang="zh-CN" dirty="0" err="1"/>
              <a:t>PyTorch</a:t>
            </a:r>
            <a:r>
              <a:rPr lang="en-US" altLang="zh-CN" dirty="0"/>
              <a:t> </a:t>
            </a:r>
            <a:r>
              <a:rPr lang="zh-CN" altLang="en-US" dirty="0"/>
              <a:t>实现</a:t>
            </a:r>
            <a:r>
              <a:rPr lang="en-US" altLang="zh-CN" dirty="0"/>
              <a:t>)** | </a:t>
            </a:r>
            <a:r>
              <a:rPr lang="zh-CN" altLang="en-US" dirty="0"/>
              <a:t>❌ </a:t>
            </a:r>
            <a:r>
              <a:rPr lang="en-US" altLang="zh-CN" dirty="0"/>
              <a:t>| </a:t>
            </a:r>
            <a:r>
              <a:rPr lang="zh-CN" altLang="en-US" dirty="0"/>
              <a:t>学术复现，性能远不如 </a:t>
            </a:r>
            <a:r>
              <a:rPr lang="en-US" altLang="zh-CN" dirty="0" err="1"/>
              <a:t>KenLM</a:t>
            </a:r>
            <a:r>
              <a:rPr lang="en-US" altLang="zh-CN" dirty="0"/>
              <a:t> |</a:t>
            </a:r>
          </a:p>
          <a:p>
            <a:endParaRPr lang="en-US" altLang="zh-CN" dirty="0"/>
          </a:p>
          <a:p>
            <a:r>
              <a:rPr lang="en-US" altLang="zh-CN" dirty="0"/>
              <a:t>&gt; </a:t>
            </a:r>
            <a:r>
              <a:rPr lang="zh-CN" altLang="en-US" dirty="0"/>
              <a:t>✅ **结论：如果你需要的是“快速、低内存、高精度的统计 </a:t>
            </a:r>
            <a:r>
              <a:rPr lang="en-US" altLang="zh-CN" dirty="0"/>
              <a:t>n-gram LM”</a:t>
            </a:r>
            <a:r>
              <a:rPr lang="zh-CN" altLang="en-US" dirty="0"/>
              <a:t>，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是当前事实标准。**</a:t>
            </a:r>
          </a:p>
          <a:p>
            <a:endParaRPr lang="zh-CN" altLang="en-US" dirty="0"/>
          </a:p>
          <a:p>
            <a:r>
              <a:rPr lang="en-US" altLang="zh-CN" dirty="0"/>
              <a:t>---</a:t>
            </a:r>
          </a:p>
          <a:p>
            <a:endParaRPr lang="en-US" altLang="zh-CN" dirty="0"/>
          </a:p>
          <a:p>
            <a:r>
              <a:rPr lang="en-US" altLang="zh-CN" dirty="0"/>
              <a:t>## </a:t>
            </a:r>
            <a:r>
              <a:rPr lang="zh-CN" altLang="en-US" dirty="0"/>
              <a:t>✅ 五、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的优势总结（为什么它如此流行？）</a:t>
            </a:r>
          </a:p>
          <a:p>
            <a:endParaRPr lang="zh-CN" altLang="en-US" dirty="0"/>
          </a:p>
          <a:p>
            <a:r>
              <a:rPr lang="en-US" altLang="zh-CN" dirty="0"/>
              <a:t>| </a:t>
            </a:r>
            <a:r>
              <a:rPr lang="zh-CN" altLang="en-US" dirty="0"/>
              <a:t>维度 </a:t>
            </a:r>
            <a:r>
              <a:rPr lang="en-US" altLang="zh-CN" dirty="0"/>
              <a:t>| 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的优势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|------|----------------|</a:t>
            </a:r>
          </a:p>
          <a:p>
            <a:r>
              <a:rPr lang="en-US" altLang="zh-CN" dirty="0"/>
              <a:t>| **</a:t>
            </a:r>
            <a:r>
              <a:rPr lang="zh-CN" altLang="en-US" dirty="0"/>
              <a:t>速度** </a:t>
            </a:r>
            <a:r>
              <a:rPr lang="en-US" altLang="zh-CN" dirty="0"/>
              <a:t>| </a:t>
            </a:r>
            <a:r>
              <a:rPr lang="zh-CN" altLang="en-US" dirty="0"/>
              <a:t>每秒可处理数百万个 </a:t>
            </a:r>
            <a:r>
              <a:rPr lang="en-US" altLang="zh-CN" dirty="0"/>
              <a:t>n-gram </a:t>
            </a:r>
            <a:r>
              <a:rPr lang="zh-CN" altLang="en-US" dirty="0"/>
              <a:t>查询（</a:t>
            </a:r>
            <a:r>
              <a:rPr lang="en-US" altLang="zh-CN" dirty="0"/>
              <a:t>C++ </a:t>
            </a:r>
            <a:r>
              <a:rPr lang="zh-CN" altLang="en-US" dirty="0"/>
              <a:t>优化）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</a:t>
            </a:r>
            <a:r>
              <a:rPr lang="zh-CN" altLang="en-US" dirty="0"/>
              <a:t>内存** </a:t>
            </a:r>
            <a:r>
              <a:rPr lang="en-US" altLang="zh-CN" dirty="0"/>
              <a:t>| </a:t>
            </a:r>
            <a:r>
              <a:rPr lang="zh-CN" altLang="en-US" dirty="0"/>
              <a:t>模型可压缩至原 </a:t>
            </a:r>
            <a:r>
              <a:rPr lang="en-US" altLang="zh-CN" dirty="0"/>
              <a:t>ARPA </a:t>
            </a:r>
            <a:r>
              <a:rPr lang="zh-CN" altLang="en-US" dirty="0"/>
              <a:t>文件的 </a:t>
            </a:r>
            <a:r>
              <a:rPr lang="en-US" altLang="zh-CN" dirty="0"/>
              <a:t>1/10</a:t>
            </a:r>
            <a:r>
              <a:rPr lang="zh-CN" altLang="en-US" dirty="0"/>
              <a:t>，支持 </a:t>
            </a:r>
            <a:r>
              <a:rPr lang="en-US" altLang="zh-CN" dirty="0" err="1"/>
              <a:t>mmap</a:t>
            </a:r>
            <a:r>
              <a:rPr lang="en-US" altLang="zh-CN" dirty="0"/>
              <a:t> |</a:t>
            </a:r>
          </a:p>
          <a:p>
            <a:r>
              <a:rPr lang="en-US" altLang="zh-CN" dirty="0"/>
              <a:t>| **</a:t>
            </a:r>
            <a:r>
              <a:rPr lang="zh-CN" altLang="en-US" dirty="0"/>
              <a:t>稳定性** </a:t>
            </a:r>
            <a:r>
              <a:rPr lang="en-US" altLang="zh-CN" dirty="0"/>
              <a:t>| </a:t>
            </a:r>
            <a:r>
              <a:rPr lang="zh-CN" altLang="en-US" dirty="0"/>
              <a:t>十年持续维护，工业级可靠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</a:t>
            </a:r>
            <a:r>
              <a:rPr lang="zh-CN" altLang="en-US" dirty="0"/>
              <a:t>易用性** </a:t>
            </a:r>
            <a:r>
              <a:rPr lang="en-US" altLang="zh-CN" dirty="0"/>
              <a:t>| Python </a:t>
            </a:r>
            <a:r>
              <a:rPr lang="zh-CN" altLang="en-US" dirty="0"/>
              <a:t>包一键安装，</a:t>
            </a:r>
            <a:r>
              <a:rPr lang="en-US" altLang="zh-CN" dirty="0"/>
              <a:t>API </a:t>
            </a:r>
            <a:r>
              <a:rPr lang="zh-CN" altLang="en-US" dirty="0"/>
              <a:t>简洁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</a:t>
            </a:r>
            <a:r>
              <a:rPr lang="zh-CN" altLang="en-US" dirty="0"/>
              <a:t>可扩展** </a:t>
            </a:r>
            <a:r>
              <a:rPr lang="en-US" altLang="zh-CN" dirty="0"/>
              <a:t>| </a:t>
            </a:r>
            <a:r>
              <a:rPr lang="zh-CN" altLang="en-US" dirty="0"/>
              <a:t>支持自定义词汇表、子词单元（</a:t>
            </a:r>
            <a:r>
              <a:rPr lang="en-US" altLang="zh-CN" dirty="0"/>
              <a:t>BPE</a:t>
            </a:r>
            <a:r>
              <a:rPr lang="zh-CN" altLang="en-US" dirty="0"/>
              <a:t>）、语言特定预处理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</a:t>
            </a:r>
            <a:r>
              <a:rPr lang="zh-CN" altLang="en-US" dirty="0"/>
              <a:t>跨平台** </a:t>
            </a:r>
            <a:r>
              <a:rPr lang="en-US" altLang="zh-CN" dirty="0"/>
              <a:t>| Linux/macOS/Windows </a:t>
            </a:r>
            <a:r>
              <a:rPr lang="zh-CN" altLang="en-US" dirty="0"/>
              <a:t>均支持（</a:t>
            </a:r>
            <a:r>
              <a:rPr lang="en-US" altLang="zh-CN" dirty="0"/>
              <a:t>Windows </a:t>
            </a:r>
            <a:r>
              <a:rPr lang="zh-CN" altLang="en-US" dirty="0"/>
              <a:t>需编译） </a:t>
            </a:r>
            <a:r>
              <a:rPr lang="en-US" altLang="zh-CN" dirty="0"/>
              <a:t>|</a:t>
            </a:r>
          </a:p>
          <a:p>
            <a:endParaRPr lang="en-US" altLang="zh-CN" dirty="0"/>
          </a:p>
          <a:p>
            <a:r>
              <a:rPr lang="en-US" altLang="zh-CN" dirty="0"/>
              <a:t>---</a:t>
            </a:r>
          </a:p>
          <a:p>
            <a:endParaRPr lang="en-US" altLang="zh-CN" dirty="0"/>
          </a:p>
          <a:p>
            <a:r>
              <a:rPr lang="en-US" altLang="zh-CN" dirty="0"/>
              <a:t>## </a:t>
            </a:r>
            <a:r>
              <a:rPr lang="zh-CN" altLang="en-US" dirty="0"/>
              <a:t>✅ 六、如何开始使用？</a:t>
            </a:r>
          </a:p>
          <a:p>
            <a:endParaRPr lang="zh-CN" altLang="en-US" dirty="0"/>
          </a:p>
          <a:p>
            <a:r>
              <a:rPr lang="en-US" altLang="zh-CN" dirty="0"/>
              <a:t>### </a:t>
            </a:r>
            <a:r>
              <a:rPr lang="zh-CN" altLang="en-US" dirty="0"/>
              <a:t>👉 快速上手步骤：</a:t>
            </a:r>
          </a:p>
          <a:p>
            <a:endParaRPr lang="zh-CN" altLang="en-US" dirty="0"/>
          </a:p>
          <a:p>
            <a:r>
              <a:rPr lang="en-US" altLang="zh-CN" dirty="0"/>
              <a:t>1. **</a:t>
            </a:r>
            <a:r>
              <a:rPr lang="zh-CN" altLang="en-US" dirty="0"/>
              <a:t>安装 </a:t>
            </a:r>
            <a:r>
              <a:rPr lang="en-US" altLang="zh-CN" dirty="0"/>
              <a:t>Python </a:t>
            </a:r>
            <a:r>
              <a:rPr lang="zh-CN" altLang="en-US" dirty="0"/>
              <a:t>包**：</a:t>
            </a:r>
          </a:p>
          <a:p>
            <a:r>
              <a:rPr lang="zh-CN" altLang="en-US" dirty="0"/>
              <a:t>   </a:t>
            </a:r>
            <a:r>
              <a:rPr lang="en-US" altLang="zh-CN" dirty="0"/>
              <a:t>```bash</a:t>
            </a:r>
          </a:p>
          <a:p>
            <a:r>
              <a:rPr lang="en-US" altLang="zh-CN" dirty="0"/>
              <a:t>   pip install </a:t>
            </a:r>
            <a:r>
              <a:rPr lang="en-US" altLang="zh-CN" dirty="0" err="1"/>
              <a:t>kenlm</a:t>
            </a:r>
            <a:endParaRPr lang="en-US" altLang="zh-CN" dirty="0"/>
          </a:p>
          <a:p>
            <a:r>
              <a:rPr lang="en-US" altLang="zh-CN" dirty="0"/>
              <a:t>   ```</a:t>
            </a:r>
          </a:p>
          <a:p>
            <a:endParaRPr lang="en-US" altLang="zh-CN" dirty="0"/>
          </a:p>
          <a:p>
            <a:r>
              <a:rPr lang="en-US" altLang="zh-CN" dirty="0"/>
              <a:t>2. **</a:t>
            </a:r>
            <a:r>
              <a:rPr lang="zh-CN" altLang="en-US" dirty="0"/>
              <a:t>准备语料**（文本文件，每行一句）：</a:t>
            </a:r>
          </a:p>
          <a:p>
            <a:r>
              <a:rPr lang="zh-CN" altLang="en-US" dirty="0"/>
              <a:t>   </a:t>
            </a:r>
            <a:r>
              <a:rPr lang="en-US" altLang="zh-CN" dirty="0"/>
              <a:t>```</a:t>
            </a:r>
          </a:p>
          <a:p>
            <a:r>
              <a:rPr lang="en-US" altLang="zh-CN" dirty="0"/>
              <a:t>   the cat sat on the mat</a:t>
            </a:r>
          </a:p>
          <a:p>
            <a:r>
              <a:rPr lang="en-US" altLang="zh-CN" dirty="0"/>
              <a:t>   the dog ran away</a:t>
            </a:r>
          </a:p>
          <a:p>
            <a:r>
              <a:rPr lang="en-US" altLang="zh-CN" dirty="0"/>
              <a:t>   ```</a:t>
            </a:r>
          </a:p>
          <a:p>
            <a:endParaRPr lang="en-US" altLang="zh-CN" dirty="0"/>
          </a:p>
          <a:p>
            <a:r>
              <a:rPr lang="en-US" altLang="zh-CN" dirty="0"/>
              <a:t>3. **</a:t>
            </a:r>
            <a:r>
              <a:rPr lang="zh-CN" altLang="en-US" dirty="0"/>
              <a:t>训练模型**：</a:t>
            </a:r>
          </a:p>
          <a:p>
            <a:r>
              <a:rPr lang="zh-CN" altLang="en-US" dirty="0"/>
              <a:t>   </a:t>
            </a:r>
            <a:r>
              <a:rPr lang="en-US" altLang="zh-CN" dirty="0"/>
              <a:t>```bash</a:t>
            </a:r>
          </a:p>
          <a:p>
            <a:r>
              <a:rPr lang="en-US" altLang="zh-CN" dirty="0"/>
              <a:t>   </a:t>
            </a:r>
            <a:r>
              <a:rPr lang="en-US" altLang="zh-CN" dirty="0" err="1"/>
              <a:t>lmplz</a:t>
            </a:r>
            <a:r>
              <a:rPr lang="en-US" altLang="zh-CN" dirty="0"/>
              <a:t> -o 5 &lt; corpus.txt &gt; </a:t>
            </a:r>
            <a:r>
              <a:rPr lang="en-US" altLang="zh-CN" dirty="0" err="1"/>
              <a:t>model.arpa</a:t>
            </a:r>
            <a:endParaRPr lang="en-US" altLang="zh-CN" dirty="0"/>
          </a:p>
          <a:p>
            <a:r>
              <a:rPr lang="en-US" altLang="zh-CN" dirty="0"/>
              <a:t>   </a:t>
            </a:r>
            <a:r>
              <a:rPr lang="en-US" altLang="zh-CN" dirty="0" err="1"/>
              <a:t>build_binary</a:t>
            </a:r>
            <a:r>
              <a:rPr lang="en-US" altLang="zh-CN" dirty="0"/>
              <a:t> </a:t>
            </a:r>
            <a:r>
              <a:rPr lang="en-US" altLang="zh-CN" dirty="0" err="1"/>
              <a:t>model.arpa</a:t>
            </a:r>
            <a:r>
              <a:rPr lang="en-US" altLang="zh-CN" dirty="0"/>
              <a:t> </a:t>
            </a:r>
            <a:r>
              <a:rPr lang="en-US" altLang="zh-CN" dirty="0" err="1"/>
              <a:t>model.bin</a:t>
            </a:r>
            <a:endParaRPr lang="en-US" altLang="zh-CN" dirty="0"/>
          </a:p>
          <a:p>
            <a:r>
              <a:rPr lang="en-US" altLang="zh-CN" dirty="0"/>
              <a:t>   ```</a:t>
            </a:r>
          </a:p>
          <a:p>
            <a:endParaRPr lang="en-US" altLang="zh-CN" dirty="0"/>
          </a:p>
          <a:p>
            <a:r>
              <a:rPr lang="en-US" altLang="zh-CN" dirty="0"/>
              <a:t>4. **</a:t>
            </a:r>
            <a:r>
              <a:rPr lang="zh-CN" altLang="en-US" dirty="0"/>
              <a:t>在 </a:t>
            </a:r>
            <a:r>
              <a:rPr lang="en-US" altLang="zh-CN" dirty="0"/>
              <a:t>Python </a:t>
            </a:r>
            <a:r>
              <a:rPr lang="zh-CN" altLang="en-US" dirty="0"/>
              <a:t>中使用**：</a:t>
            </a:r>
          </a:p>
          <a:p>
            <a:r>
              <a:rPr lang="zh-CN" altLang="en-US" dirty="0"/>
              <a:t>   </a:t>
            </a:r>
            <a:r>
              <a:rPr lang="en-US" altLang="zh-CN" dirty="0"/>
              <a:t>```python</a:t>
            </a:r>
          </a:p>
          <a:p>
            <a:r>
              <a:rPr lang="en-US" altLang="zh-CN" dirty="0"/>
              <a:t>   import </a:t>
            </a:r>
            <a:r>
              <a:rPr lang="en-US" altLang="zh-CN" dirty="0" err="1"/>
              <a:t>kenlm</a:t>
            </a:r>
            <a:endParaRPr lang="en-US" altLang="zh-CN" dirty="0"/>
          </a:p>
          <a:p>
            <a:r>
              <a:rPr lang="en-US" altLang="zh-CN" dirty="0"/>
              <a:t>   model = </a:t>
            </a:r>
            <a:r>
              <a:rPr lang="en-US" altLang="zh-CN" dirty="0" err="1"/>
              <a:t>kenlm.Model</a:t>
            </a:r>
            <a:r>
              <a:rPr lang="en-US" altLang="zh-CN" dirty="0"/>
              <a:t>('</a:t>
            </a:r>
            <a:r>
              <a:rPr lang="en-US" altLang="zh-CN" dirty="0" err="1"/>
              <a:t>model.bin</a:t>
            </a:r>
            <a:r>
              <a:rPr lang="en-US" altLang="zh-CN" dirty="0"/>
              <a:t>')</a:t>
            </a:r>
          </a:p>
          <a:p>
            <a:r>
              <a:rPr lang="en-US" altLang="zh-CN" dirty="0"/>
              <a:t>   print(</a:t>
            </a:r>
            <a:r>
              <a:rPr lang="en-US" altLang="zh-CN" dirty="0" err="1"/>
              <a:t>model.score</a:t>
            </a:r>
            <a:r>
              <a:rPr lang="en-US" altLang="zh-CN" dirty="0"/>
              <a:t>("the cat sat"))  # </a:t>
            </a:r>
            <a:r>
              <a:rPr lang="zh-CN" altLang="en-US" dirty="0"/>
              <a:t>输出 </a:t>
            </a:r>
            <a:r>
              <a:rPr lang="en-US" altLang="zh-CN" dirty="0"/>
              <a:t>log prob</a:t>
            </a:r>
          </a:p>
          <a:p>
            <a:r>
              <a:rPr lang="en-US" altLang="zh-CN" dirty="0"/>
              <a:t>   ```</a:t>
            </a:r>
          </a:p>
          <a:p>
            <a:endParaRPr lang="en-US" altLang="zh-CN" dirty="0"/>
          </a:p>
          <a:p>
            <a:r>
              <a:rPr lang="en-US" altLang="zh-CN" dirty="0"/>
              <a:t>---</a:t>
            </a:r>
          </a:p>
          <a:p>
            <a:endParaRPr lang="en-US" altLang="zh-CN" dirty="0"/>
          </a:p>
          <a:p>
            <a:r>
              <a:rPr lang="en-US" altLang="zh-CN" dirty="0"/>
              <a:t>## </a:t>
            </a:r>
            <a:r>
              <a:rPr lang="zh-CN" altLang="en-US" dirty="0"/>
              <a:t>✅ 七、注意事项</a:t>
            </a:r>
          </a:p>
          <a:p>
            <a:endParaRPr lang="zh-CN" altLang="en-US" dirty="0"/>
          </a:p>
          <a:p>
            <a:r>
              <a:rPr lang="en-US" altLang="zh-CN" dirty="0"/>
              <a:t>| </a:t>
            </a:r>
            <a:r>
              <a:rPr lang="zh-CN" altLang="en-US" dirty="0"/>
              <a:t>问题 </a:t>
            </a:r>
            <a:r>
              <a:rPr lang="en-US" altLang="zh-CN" dirty="0"/>
              <a:t>| </a:t>
            </a:r>
            <a:r>
              <a:rPr lang="zh-CN" altLang="en-US" dirty="0"/>
              <a:t>解决方案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|------|----------|</a:t>
            </a:r>
          </a:p>
          <a:p>
            <a:r>
              <a:rPr lang="en-US" altLang="zh-CN" dirty="0"/>
              <a:t>| **Windows </a:t>
            </a:r>
            <a:r>
              <a:rPr lang="zh-CN" altLang="en-US" dirty="0"/>
              <a:t>编译困难** </a:t>
            </a:r>
            <a:r>
              <a:rPr lang="en-US" altLang="zh-CN" dirty="0"/>
              <a:t>| </a:t>
            </a:r>
            <a:r>
              <a:rPr lang="zh-CN" altLang="en-US" dirty="0"/>
              <a:t>推荐直接 </a:t>
            </a:r>
            <a:r>
              <a:rPr lang="en-US" altLang="zh-CN" dirty="0"/>
              <a:t>`pip install </a:t>
            </a:r>
            <a:r>
              <a:rPr lang="en-US" altLang="zh-CN" dirty="0" err="1"/>
              <a:t>kenlm</a:t>
            </a:r>
            <a:r>
              <a:rPr lang="en-US" altLang="zh-CN" dirty="0"/>
              <a:t>`</a:t>
            </a:r>
            <a:r>
              <a:rPr lang="zh-CN" altLang="en-US" dirty="0"/>
              <a:t>，官方 </a:t>
            </a:r>
            <a:r>
              <a:rPr lang="en-US" altLang="zh-CN" dirty="0" err="1"/>
              <a:t>PyPI</a:t>
            </a:r>
            <a:r>
              <a:rPr lang="en-US" altLang="zh-CN" dirty="0"/>
              <a:t> </a:t>
            </a:r>
            <a:r>
              <a:rPr lang="zh-CN" altLang="en-US" dirty="0"/>
              <a:t>包已预编译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</a:t>
            </a:r>
            <a:r>
              <a:rPr lang="zh-CN" altLang="en-US" dirty="0"/>
              <a:t>不支持神经网络** </a:t>
            </a:r>
            <a:r>
              <a:rPr lang="en-US" altLang="zh-CN" dirty="0"/>
              <a:t>| 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是统计模型，不能替代 </a:t>
            </a:r>
            <a:r>
              <a:rPr lang="en-US" altLang="zh-CN" dirty="0"/>
              <a:t>GPT/BERT</a:t>
            </a:r>
            <a:r>
              <a:rPr lang="zh-CN" altLang="en-US" dirty="0"/>
              <a:t>，适用于轻量级任务或作为补充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</a:t>
            </a:r>
            <a:r>
              <a:rPr lang="zh-CN" altLang="en-US" dirty="0"/>
              <a:t>长距离依赖差** </a:t>
            </a:r>
            <a:r>
              <a:rPr lang="en-US" altLang="zh-CN" dirty="0"/>
              <a:t>| n-gram </a:t>
            </a:r>
            <a:r>
              <a:rPr lang="zh-CN" altLang="en-US" dirty="0"/>
              <a:t>最多记 </a:t>
            </a:r>
            <a:r>
              <a:rPr lang="en-US" altLang="zh-CN" dirty="0"/>
              <a:t>5~8 </a:t>
            </a:r>
            <a:r>
              <a:rPr lang="zh-CN" altLang="en-US" dirty="0"/>
              <a:t>个词，不适合建模长上下文（如文档级）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**OOV </a:t>
            </a:r>
            <a:r>
              <a:rPr lang="zh-CN" altLang="en-US" dirty="0"/>
              <a:t>处理弱** </a:t>
            </a:r>
            <a:r>
              <a:rPr lang="en-US" altLang="zh-CN" dirty="0"/>
              <a:t>| </a:t>
            </a:r>
            <a:r>
              <a:rPr lang="zh-CN" altLang="en-US" dirty="0"/>
              <a:t>默认回退到 </a:t>
            </a:r>
            <a:r>
              <a:rPr lang="en-US" altLang="zh-CN" dirty="0"/>
              <a:t>unigram</a:t>
            </a:r>
            <a:r>
              <a:rPr lang="zh-CN" altLang="en-US" dirty="0"/>
              <a:t>，可配合 </a:t>
            </a:r>
            <a:r>
              <a:rPr lang="en-US" altLang="zh-CN" dirty="0"/>
              <a:t>BPE </a:t>
            </a:r>
            <a:r>
              <a:rPr lang="zh-CN" altLang="en-US" dirty="0"/>
              <a:t>或子词分词增强 </a:t>
            </a:r>
            <a:r>
              <a:rPr lang="en-US" altLang="zh-CN" dirty="0"/>
              <a:t>|</a:t>
            </a:r>
          </a:p>
          <a:p>
            <a:endParaRPr lang="en-US" altLang="zh-CN" dirty="0"/>
          </a:p>
          <a:p>
            <a:r>
              <a:rPr lang="en-US" altLang="zh-CN" dirty="0"/>
              <a:t>---</a:t>
            </a:r>
          </a:p>
          <a:p>
            <a:endParaRPr lang="en-US" altLang="zh-CN" dirty="0"/>
          </a:p>
          <a:p>
            <a:r>
              <a:rPr lang="en-US" altLang="zh-CN" dirty="0"/>
              <a:t>## </a:t>
            </a:r>
            <a:r>
              <a:rPr lang="zh-CN" altLang="en-US" dirty="0"/>
              <a:t>✅ 总结：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的开源生态全景图</a:t>
            </a:r>
          </a:p>
          <a:p>
            <a:endParaRPr lang="zh-CN" altLang="en-US" dirty="0"/>
          </a:p>
          <a:p>
            <a:r>
              <a:rPr lang="en-US" altLang="zh-CN" dirty="0"/>
              <a:t>| </a:t>
            </a:r>
            <a:r>
              <a:rPr lang="zh-CN" altLang="en-US" dirty="0"/>
              <a:t>类型 </a:t>
            </a:r>
            <a:r>
              <a:rPr lang="en-US" altLang="zh-CN" dirty="0"/>
              <a:t>| </a:t>
            </a:r>
            <a:r>
              <a:rPr lang="zh-CN" altLang="en-US" dirty="0"/>
              <a:t>名称 </a:t>
            </a:r>
            <a:r>
              <a:rPr lang="en-US" altLang="zh-CN" dirty="0"/>
              <a:t>| </a:t>
            </a:r>
            <a:r>
              <a:rPr lang="zh-CN" altLang="en-US" dirty="0"/>
              <a:t>地址 </a:t>
            </a:r>
            <a:r>
              <a:rPr lang="en-US" altLang="zh-CN" dirty="0"/>
              <a:t>| </a:t>
            </a:r>
            <a:r>
              <a:rPr lang="zh-CN" altLang="en-US" dirty="0"/>
              <a:t>是否官方 </a:t>
            </a:r>
            <a:r>
              <a:rPr lang="en-US" altLang="zh-CN" dirty="0"/>
              <a:t>| </a:t>
            </a:r>
            <a:r>
              <a:rPr lang="zh-CN" altLang="en-US" dirty="0"/>
              <a:t>用途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|------|------|------|----------|------|</a:t>
            </a:r>
          </a:p>
          <a:p>
            <a:r>
              <a:rPr lang="en-US" altLang="zh-CN" dirty="0"/>
              <a:t>| **</a:t>
            </a:r>
            <a:r>
              <a:rPr lang="zh-CN" altLang="en-US" dirty="0"/>
              <a:t>核心实现** </a:t>
            </a:r>
            <a:r>
              <a:rPr lang="en-US" altLang="zh-CN" dirty="0"/>
              <a:t>| </a:t>
            </a:r>
            <a:r>
              <a:rPr lang="en-US" altLang="zh-CN" dirty="0" err="1"/>
              <a:t>KenLM</a:t>
            </a:r>
            <a:r>
              <a:rPr lang="en-US" altLang="zh-CN" dirty="0"/>
              <a:t> (C++) | https://github.com/kpu/kenlm | </a:t>
            </a:r>
            <a:r>
              <a:rPr lang="zh-CN" altLang="en-US" dirty="0"/>
              <a:t>✅ 官方 </a:t>
            </a:r>
            <a:r>
              <a:rPr lang="en-US" altLang="zh-CN" dirty="0"/>
              <a:t>| </a:t>
            </a:r>
            <a:r>
              <a:rPr lang="zh-CN" altLang="en-US" dirty="0"/>
              <a:t>高性能 </a:t>
            </a:r>
            <a:r>
              <a:rPr lang="en-US" altLang="zh-CN" dirty="0"/>
              <a:t>n-gram </a:t>
            </a:r>
            <a:r>
              <a:rPr lang="zh-CN" altLang="en-US" dirty="0"/>
              <a:t>引擎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**Python </a:t>
            </a:r>
            <a:r>
              <a:rPr lang="zh-CN" altLang="en-US" dirty="0"/>
              <a:t>接口** </a:t>
            </a:r>
            <a:r>
              <a:rPr lang="en-US" altLang="zh-CN" dirty="0"/>
              <a:t>| `</a:t>
            </a:r>
            <a:r>
              <a:rPr lang="en-US" altLang="zh-CN" dirty="0" err="1"/>
              <a:t>kenlm</a:t>
            </a:r>
            <a:r>
              <a:rPr lang="en-US" altLang="zh-CN" dirty="0"/>
              <a:t>` (</a:t>
            </a:r>
            <a:r>
              <a:rPr lang="en-US" altLang="zh-CN" dirty="0" err="1"/>
              <a:t>PyPI</a:t>
            </a:r>
            <a:r>
              <a:rPr lang="en-US" altLang="zh-CN" dirty="0"/>
              <a:t>) | `pip install </a:t>
            </a:r>
            <a:r>
              <a:rPr lang="en-US" altLang="zh-CN" dirty="0" err="1"/>
              <a:t>kenlm</a:t>
            </a:r>
            <a:r>
              <a:rPr lang="en-US" altLang="zh-CN" dirty="0"/>
              <a:t>` | </a:t>
            </a:r>
            <a:r>
              <a:rPr lang="zh-CN" altLang="en-US" dirty="0"/>
              <a:t>✅ 官方 </a:t>
            </a:r>
            <a:r>
              <a:rPr lang="en-US" altLang="zh-CN" dirty="0"/>
              <a:t>| </a:t>
            </a:r>
            <a:r>
              <a:rPr lang="zh-CN" altLang="en-US" dirty="0"/>
              <a:t>最主流使用方式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</a:t>
            </a:r>
            <a:r>
              <a:rPr lang="zh-CN" altLang="en-US" dirty="0"/>
              <a:t>集成系统** </a:t>
            </a:r>
            <a:r>
              <a:rPr lang="en-US" altLang="zh-CN" dirty="0"/>
              <a:t>| Moses MT | https://github.com/moses-smt/mosesdecoder | </a:t>
            </a:r>
            <a:r>
              <a:rPr lang="zh-CN" altLang="en-US" dirty="0"/>
              <a:t>✅ 使用 </a:t>
            </a:r>
            <a:r>
              <a:rPr lang="en-US" altLang="zh-CN" dirty="0"/>
              <a:t>| </a:t>
            </a:r>
            <a:r>
              <a:rPr lang="zh-CN" altLang="en-US" dirty="0"/>
              <a:t>机器翻译重排序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</a:t>
            </a:r>
            <a:r>
              <a:rPr lang="zh-CN" altLang="en-US" dirty="0"/>
              <a:t>集成系统** </a:t>
            </a:r>
            <a:r>
              <a:rPr lang="en-US" altLang="zh-CN" dirty="0"/>
              <a:t>| Kaldi | https://github.com/kaldi-asr/kaldi | </a:t>
            </a:r>
            <a:r>
              <a:rPr lang="zh-CN" altLang="en-US" dirty="0"/>
              <a:t>✅ 使用 </a:t>
            </a:r>
            <a:r>
              <a:rPr lang="en-US" altLang="zh-CN" dirty="0"/>
              <a:t>| </a:t>
            </a:r>
            <a:r>
              <a:rPr lang="zh-CN" altLang="en-US" dirty="0"/>
              <a:t>语音识别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</a:t>
            </a:r>
            <a:r>
              <a:rPr lang="zh-CN" altLang="en-US" dirty="0"/>
              <a:t>社区封装** </a:t>
            </a:r>
            <a:r>
              <a:rPr lang="en-US" altLang="zh-CN" dirty="0"/>
              <a:t>| </a:t>
            </a:r>
            <a:r>
              <a:rPr lang="en-US" altLang="zh-CN" dirty="0" err="1"/>
              <a:t>pykenlm</a:t>
            </a:r>
            <a:r>
              <a:rPr lang="zh-CN" altLang="en-US" dirty="0"/>
              <a:t>（旧） </a:t>
            </a:r>
            <a:r>
              <a:rPr lang="en-US" altLang="zh-CN" dirty="0"/>
              <a:t>| </a:t>
            </a:r>
            <a:r>
              <a:rPr lang="zh-CN" altLang="en-US" dirty="0"/>
              <a:t>已废弃 </a:t>
            </a:r>
            <a:r>
              <a:rPr lang="en-US" altLang="zh-CN" dirty="0"/>
              <a:t>| </a:t>
            </a:r>
            <a:r>
              <a:rPr lang="zh-CN" altLang="en-US" dirty="0"/>
              <a:t>❌ </a:t>
            </a:r>
            <a:r>
              <a:rPr lang="en-US" altLang="zh-CN" dirty="0"/>
              <a:t>| </a:t>
            </a:r>
            <a:r>
              <a:rPr lang="zh-CN" altLang="en-US" dirty="0"/>
              <a:t>不要使用 </a:t>
            </a:r>
            <a:r>
              <a:rPr lang="en-US" altLang="zh-CN" dirty="0"/>
              <a:t>|</a:t>
            </a:r>
          </a:p>
          <a:p>
            <a:r>
              <a:rPr lang="en-US" altLang="zh-CN" dirty="0"/>
              <a:t>| **</a:t>
            </a:r>
            <a:r>
              <a:rPr lang="zh-CN" altLang="en-US" dirty="0"/>
              <a:t>替代品** </a:t>
            </a:r>
            <a:r>
              <a:rPr lang="en-US" altLang="zh-CN" dirty="0"/>
              <a:t>| SRILM / IRSTLM | </a:t>
            </a:r>
            <a:r>
              <a:rPr lang="zh-CN" altLang="en-US" dirty="0"/>
              <a:t>各自官网 </a:t>
            </a:r>
            <a:r>
              <a:rPr lang="en-US" altLang="zh-CN" dirty="0"/>
              <a:t>| </a:t>
            </a:r>
            <a:r>
              <a:rPr lang="zh-CN" altLang="en-US" dirty="0"/>
              <a:t>❌ </a:t>
            </a:r>
            <a:r>
              <a:rPr lang="en-US" altLang="zh-CN" dirty="0"/>
              <a:t>| </a:t>
            </a:r>
            <a:r>
              <a:rPr lang="zh-CN" altLang="en-US" dirty="0"/>
              <a:t>已逐步淘汰 </a:t>
            </a:r>
            <a:r>
              <a:rPr lang="en-US" altLang="zh-CN" dirty="0"/>
              <a:t>|</a:t>
            </a:r>
          </a:p>
          <a:p>
            <a:endParaRPr lang="en-US" altLang="zh-CN" dirty="0"/>
          </a:p>
          <a:p>
            <a:r>
              <a:rPr lang="en-US" altLang="zh-CN" dirty="0"/>
              <a:t>---</a:t>
            </a:r>
          </a:p>
          <a:p>
            <a:endParaRPr lang="en-US" altLang="zh-CN" dirty="0"/>
          </a:p>
          <a:p>
            <a:r>
              <a:rPr lang="en-US" altLang="zh-CN" dirty="0"/>
              <a:t>## </a:t>
            </a:r>
            <a:r>
              <a:rPr lang="zh-CN" altLang="en-US" dirty="0"/>
              <a:t>🏁 结论：**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的开源实现只有一个</a:t>
            </a:r>
            <a:r>
              <a:rPr lang="en-US" altLang="zh-CN" dirty="0"/>
              <a:t>——</a:t>
            </a:r>
            <a:r>
              <a:rPr lang="zh-CN" altLang="en-US" dirty="0"/>
              <a:t>官方 </a:t>
            </a:r>
            <a:r>
              <a:rPr lang="en-US" altLang="zh-CN" dirty="0"/>
              <a:t>GitHub </a:t>
            </a:r>
            <a:r>
              <a:rPr lang="zh-CN" altLang="en-US" dirty="0"/>
              <a:t>仓库，但它的 </a:t>
            </a:r>
            <a:r>
              <a:rPr lang="en-US" altLang="zh-CN" dirty="0"/>
              <a:t>Python </a:t>
            </a:r>
            <a:r>
              <a:rPr lang="zh-CN" altLang="en-US" dirty="0"/>
              <a:t>包 </a:t>
            </a:r>
            <a:r>
              <a:rPr lang="en-US" altLang="zh-CN" dirty="0"/>
              <a:t>`</a:t>
            </a:r>
            <a:r>
              <a:rPr lang="en-US" altLang="zh-CN" dirty="0" err="1"/>
              <a:t>kenlm</a:t>
            </a:r>
            <a:r>
              <a:rPr lang="en-US" altLang="zh-CN" dirty="0"/>
              <a:t>` </a:t>
            </a:r>
            <a:r>
              <a:rPr lang="zh-CN" altLang="en-US" dirty="0"/>
              <a:t>是你真正要用的入口。**</a:t>
            </a:r>
          </a:p>
          <a:p>
            <a:endParaRPr lang="zh-CN" altLang="en-US" dirty="0"/>
          </a:p>
          <a:p>
            <a:r>
              <a:rPr lang="en-US" altLang="zh-CN" dirty="0"/>
              <a:t>&gt; </a:t>
            </a:r>
            <a:r>
              <a:rPr lang="zh-CN" altLang="en-US" dirty="0"/>
              <a:t>✅ **一句话记住**：  </a:t>
            </a:r>
          </a:p>
          <a:p>
            <a:r>
              <a:rPr lang="en-US" altLang="zh-CN" dirty="0"/>
              <a:t>&gt; **“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是最快的 </a:t>
            </a:r>
            <a:r>
              <a:rPr lang="en-US" altLang="zh-CN" dirty="0"/>
              <a:t>n-gram </a:t>
            </a:r>
            <a:r>
              <a:rPr lang="zh-CN" altLang="en-US" dirty="0"/>
              <a:t>语言模型引擎，官方开源，</a:t>
            </a:r>
            <a:r>
              <a:rPr lang="en-US" altLang="zh-CN" dirty="0"/>
              <a:t>Python </a:t>
            </a:r>
            <a:r>
              <a:rPr lang="zh-CN" altLang="en-US" dirty="0"/>
              <a:t>一行代码就能用。”**</a:t>
            </a:r>
          </a:p>
          <a:p>
            <a:endParaRPr lang="zh-CN" altLang="en-US" dirty="0"/>
          </a:p>
          <a:p>
            <a:r>
              <a:rPr lang="zh-CN" altLang="en-US" dirty="0"/>
              <a:t>无论你是做语音识别、机器翻译、拼写纠正，还是想计算句子困惑度（</a:t>
            </a:r>
            <a:r>
              <a:rPr lang="en-US" altLang="zh-CN" dirty="0"/>
              <a:t>perplexity</a:t>
            </a:r>
            <a:r>
              <a:rPr lang="zh-CN" altLang="en-US" dirty="0"/>
              <a:t>），只要你的场景是“小模型、快查询、高吞吐”，**</a:t>
            </a:r>
            <a:r>
              <a:rPr lang="en-US" altLang="zh-CN" dirty="0" err="1"/>
              <a:t>KenLM</a:t>
            </a:r>
            <a:r>
              <a:rPr lang="en-US" altLang="zh-CN" dirty="0"/>
              <a:t> </a:t>
            </a:r>
            <a:r>
              <a:rPr lang="zh-CN" altLang="en-US" dirty="0"/>
              <a:t>仍是不可替代的黄金标准**。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1487-35F5-4F0A-817E-8AD2932ED08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7442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表示学习（</a:t>
            </a:r>
            <a:r>
              <a:rPr lang="en-US" altLang="zh-CN" b="1" dirty="0"/>
              <a:t>Representation Learning</a:t>
            </a:r>
            <a:r>
              <a:rPr lang="zh-CN" altLang="en-US" b="1" dirty="0"/>
              <a:t>），</a:t>
            </a:r>
            <a:r>
              <a:rPr lang="zh-CN" altLang="en-US" dirty="0"/>
              <a:t>用于把文本转成可计算的向量</a:t>
            </a:r>
            <a:r>
              <a:rPr lang="en-US" altLang="zh-CN" dirty="0"/>
              <a:t>/</a:t>
            </a:r>
            <a:r>
              <a:rPr lang="zh-CN" altLang="en-US" dirty="0"/>
              <a:t>概率表示，属于“表征生成层”。</a:t>
            </a:r>
          </a:p>
          <a:p>
            <a:endParaRPr lang="en-US" altLang="zh-CN" b="1" dirty="0"/>
          </a:p>
          <a:p>
            <a:r>
              <a:rPr lang="zh-CN" altLang="en-US" b="1" dirty="0"/>
              <a:t>词</a:t>
            </a:r>
            <a:r>
              <a:rPr lang="en-US" altLang="zh-CN" b="1" dirty="0"/>
              <a:t>/</a:t>
            </a:r>
            <a:r>
              <a:rPr lang="zh-CN" altLang="en-US" b="1" dirty="0"/>
              <a:t>子词</a:t>
            </a:r>
            <a:r>
              <a:rPr lang="en-US" altLang="zh-CN" b="1" dirty="0"/>
              <a:t>/</a:t>
            </a:r>
            <a:r>
              <a:rPr lang="zh-CN" altLang="en-US" b="1" dirty="0"/>
              <a:t>文档向量</a:t>
            </a:r>
            <a:endParaRPr lang="zh-CN" altLang="en-US" dirty="0"/>
          </a:p>
          <a:p>
            <a:pPr lvl="1"/>
            <a:r>
              <a:rPr lang="en-US" altLang="zh-CN" dirty="0"/>
              <a:t>Word2Vec</a:t>
            </a:r>
            <a:r>
              <a:rPr lang="zh-CN" altLang="en-US" dirty="0"/>
              <a:t>（</a:t>
            </a:r>
            <a:r>
              <a:rPr lang="en-US" altLang="zh-CN" dirty="0"/>
              <a:t>CBOW/Skip-gram</a:t>
            </a:r>
            <a:r>
              <a:rPr lang="zh-CN" altLang="en-US" dirty="0"/>
              <a:t>，负采样</a:t>
            </a:r>
            <a:r>
              <a:rPr lang="en-US" altLang="zh-CN" dirty="0"/>
              <a:t>/HS</a:t>
            </a:r>
            <a:r>
              <a:rPr lang="zh-CN" altLang="en-US" dirty="0"/>
              <a:t>）</a:t>
            </a:r>
          </a:p>
          <a:p>
            <a:pPr lvl="1"/>
            <a:r>
              <a:rPr lang="en-US" altLang="zh-CN" dirty="0" err="1"/>
              <a:t>FastText</a:t>
            </a:r>
            <a:r>
              <a:rPr lang="zh-CN" altLang="en-US" dirty="0"/>
              <a:t>（字符 </a:t>
            </a:r>
            <a:r>
              <a:rPr lang="en-US" altLang="zh-CN" dirty="0"/>
              <a:t>n-gram </a:t>
            </a:r>
            <a:r>
              <a:rPr lang="zh-CN" altLang="en-US" dirty="0"/>
              <a:t>子词向量，</a:t>
            </a:r>
            <a:r>
              <a:rPr lang="en-US" altLang="zh-CN" dirty="0"/>
              <a:t>OOV </a:t>
            </a:r>
            <a:r>
              <a:rPr lang="zh-CN" altLang="en-US" dirty="0"/>
              <a:t>友好）</a:t>
            </a:r>
          </a:p>
          <a:p>
            <a:pPr lvl="1"/>
            <a:r>
              <a:rPr lang="en-US" altLang="zh-CN" dirty="0"/>
              <a:t>Doc2Vec</a:t>
            </a:r>
            <a:r>
              <a:rPr lang="zh-CN" altLang="en-US" dirty="0"/>
              <a:t>（</a:t>
            </a:r>
            <a:r>
              <a:rPr lang="en-US" altLang="zh-CN" dirty="0"/>
              <a:t>PV-DM / PV-DBOW </a:t>
            </a:r>
            <a:r>
              <a:rPr lang="zh-CN" altLang="en-US" dirty="0"/>
              <a:t>文档</a:t>
            </a:r>
            <a:r>
              <a:rPr lang="en-US" altLang="zh-CN" dirty="0"/>
              <a:t>/</a:t>
            </a:r>
            <a:r>
              <a:rPr lang="zh-CN" altLang="en-US" dirty="0"/>
              <a:t>段落向量）</a:t>
            </a:r>
          </a:p>
          <a:p>
            <a:r>
              <a:rPr lang="zh-CN" altLang="en-US" b="1" dirty="0"/>
              <a:t>稀疏权重与线性语义空间</a:t>
            </a:r>
            <a:endParaRPr lang="zh-CN" altLang="en-US" dirty="0"/>
          </a:p>
          <a:p>
            <a:pPr lvl="1"/>
            <a:r>
              <a:rPr lang="en-US" altLang="zh-CN" dirty="0" err="1"/>
              <a:t>BoW</a:t>
            </a:r>
            <a:r>
              <a:rPr lang="zh-CN" altLang="en-US" dirty="0"/>
              <a:t>、</a:t>
            </a:r>
            <a:r>
              <a:rPr lang="en-US" altLang="zh-CN" dirty="0"/>
              <a:t>TF-IDF</a:t>
            </a:r>
          </a:p>
          <a:p>
            <a:pPr lvl="1"/>
            <a:r>
              <a:rPr lang="en-US" altLang="zh-CN" dirty="0"/>
              <a:t>LSI/LSA</a:t>
            </a:r>
            <a:r>
              <a:rPr lang="zh-CN" altLang="en-US" dirty="0"/>
              <a:t>（</a:t>
            </a:r>
            <a:r>
              <a:rPr lang="en-US" altLang="zh-CN" dirty="0"/>
              <a:t>SVD </a:t>
            </a:r>
            <a:r>
              <a:rPr lang="zh-CN" altLang="en-US" dirty="0"/>
              <a:t>投影）、随机投影（</a:t>
            </a:r>
            <a:r>
              <a:rPr lang="en-US" altLang="zh-CN" dirty="0"/>
              <a:t>RP</a:t>
            </a:r>
            <a:r>
              <a:rPr lang="zh-CN" altLang="en-US" dirty="0"/>
              <a:t>）</a:t>
            </a:r>
          </a:p>
          <a:p>
            <a:r>
              <a:rPr lang="zh-CN" altLang="en-US" b="1" dirty="0"/>
              <a:t>主题表示</a:t>
            </a:r>
            <a:endParaRPr lang="zh-CN" altLang="en-US" dirty="0"/>
          </a:p>
          <a:p>
            <a:pPr lvl="1"/>
            <a:r>
              <a:rPr lang="en-US" altLang="zh-CN" dirty="0"/>
              <a:t>LDA/HDP</a:t>
            </a:r>
            <a:r>
              <a:rPr lang="zh-CN" altLang="en-US" dirty="0"/>
              <a:t>（文档→主题分布、词→主题分布）</a:t>
            </a:r>
          </a:p>
          <a:p>
            <a:r>
              <a:rPr lang="zh-CN" altLang="en-US" b="1" dirty="0"/>
              <a:t>表征构件</a:t>
            </a:r>
            <a:r>
              <a:rPr lang="en-US" altLang="zh-CN" b="1" dirty="0"/>
              <a:t>/</a:t>
            </a:r>
            <a:r>
              <a:rPr lang="zh-CN" altLang="en-US" b="1" dirty="0"/>
              <a:t>变换</a:t>
            </a:r>
            <a:endParaRPr lang="zh-CN" altLang="en-US" dirty="0"/>
          </a:p>
          <a:p>
            <a:pPr lvl="1"/>
            <a:r>
              <a:rPr lang="en-US" altLang="zh-CN" dirty="0"/>
              <a:t>Phrases</a:t>
            </a:r>
            <a:r>
              <a:rPr lang="zh-CN" altLang="en-US" dirty="0"/>
              <a:t>（双</a:t>
            </a:r>
            <a:r>
              <a:rPr lang="en-US" altLang="zh-CN" dirty="0"/>
              <a:t>/</a:t>
            </a:r>
            <a:r>
              <a:rPr lang="zh-CN" altLang="en-US" dirty="0"/>
              <a:t>三元搭配发现，升级 </a:t>
            </a:r>
            <a:r>
              <a:rPr lang="en-US" altLang="zh-CN" dirty="0"/>
              <a:t>token </a:t>
            </a:r>
            <a:r>
              <a:rPr lang="zh-CN" altLang="en-US" dirty="0"/>
              <a:t>粒度）</a:t>
            </a:r>
          </a:p>
          <a:p>
            <a:pPr lvl="1"/>
            <a:r>
              <a:rPr lang="en-US" altLang="zh-CN" dirty="0" err="1"/>
              <a:t>KeyedVectors</a:t>
            </a:r>
            <a:r>
              <a:rPr lang="zh-CN" altLang="en-US" dirty="0"/>
              <a:t>（仅加载</a:t>
            </a:r>
            <a:r>
              <a:rPr lang="en-US" altLang="zh-CN" dirty="0"/>
              <a:t>/</a:t>
            </a:r>
            <a:r>
              <a:rPr lang="zh-CN" altLang="en-US" dirty="0"/>
              <a:t>操作预训练向量，归一化</a:t>
            </a:r>
            <a:r>
              <a:rPr lang="en-US" altLang="zh-CN" dirty="0"/>
              <a:t>/</a:t>
            </a:r>
            <a:r>
              <a:rPr lang="zh-CN" altLang="en-US" dirty="0"/>
              <a:t>对齐）</a:t>
            </a:r>
          </a:p>
          <a:p>
            <a:pPr lvl="1"/>
            <a:r>
              <a:rPr lang="zh-CN" altLang="en-US" dirty="0"/>
              <a:t>各类向量管道变换（归一化、均值</a:t>
            </a:r>
            <a:r>
              <a:rPr lang="en-US" altLang="zh-CN" dirty="0"/>
              <a:t>/</a:t>
            </a:r>
            <a:r>
              <a:rPr lang="zh-CN" altLang="en-US" dirty="0"/>
              <a:t>加权汇聚、在线更新）</a:t>
            </a:r>
          </a:p>
          <a:p>
            <a:endParaRPr lang="en-US" altLang="zh-CN" b="1" dirty="0"/>
          </a:p>
          <a:p>
            <a:r>
              <a:rPr lang="zh-CN" altLang="en-US" b="1" dirty="0"/>
              <a:t>应用层能力（</a:t>
            </a:r>
            <a:r>
              <a:rPr lang="en-US" altLang="zh-CN" b="1" dirty="0"/>
              <a:t>Application-Level Capabilities</a:t>
            </a:r>
            <a:r>
              <a:rPr lang="zh-CN" altLang="en-US" b="1" dirty="0"/>
              <a:t>），</a:t>
            </a:r>
            <a:r>
              <a:rPr lang="zh-CN" altLang="en-US" dirty="0"/>
              <a:t>在已有表示之上做检索、比较、评测与管道管理，属于“使用层”。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相似度与检索</a:t>
            </a:r>
            <a:endParaRPr lang="zh-CN" altLang="en-US" dirty="0"/>
          </a:p>
          <a:p>
            <a:pPr lvl="1"/>
            <a:r>
              <a:rPr lang="en-US" altLang="zh-CN" dirty="0"/>
              <a:t>similarities </a:t>
            </a:r>
            <a:r>
              <a:rPr lang="zh-CN" altLang="en-US" dirty="0"/>
              <a:t>模块（稀疏</a:t>
            </a:r>
            <a:r>
              <a:rPr lang="en-US" altLang="zh-CN" dirty="0"/>
              <a:t>/</a:t>
            </a:r>
            <a:r>
              <a:rPr lang="zh-CN" altLang="en-US" dirty="0"/>
              <a:t>稠密向量索引、相似度计算）</a:t>
            </a:r>
          </a:p>
          <a:p>
            <a:pPr lvl="1"/>
            <a:r>
              <a:rPr lang="en-US" altLang="zh-CN" dirty="0" err="1"/>
              <a:t>SoftCosineSimilarity</a:t>
            </a:r>
            <a:r>
              <a:rPr lang="zh-CN" altLang="en-US" dirty="0"/>
              <a:t>、</a:t>
            </a:r>
            <a:r>
              <a:rPr lang="en-US" altLang="zh-CN" dirty="0"/>
              <a:t>Word Mover’s Distance</a:t>
            </a:r>
            <a:r>
              <a:rPr lang="zh-CN" altLang="en-US" dirty="0"/>
              <a:t>（</a:t>
            </a:r>
            <a:r>
              <a:rPr lang="en-US" altLang="zh-CN" dirty="0"/>
              <a:t>WMD</a:t>
            </a:r>
            <a:r>
              <a:rPr lang="zh-CN" altLang="en-US" dirty="0"/>
              <a:t>）文档距离</a:t>
            </a:r>
          </a:p>
          <a:p>
            <a:pPr lvl="1"/>
            <a:r>
              <a:rPr lang="zh-CN" altLang="en-US" dirty="0"/>
              <a:t>近重复检测、</a:t>
            </a:r>
            <a:r>
              <a:rPr lang="en-US" altLang="zh-CN" dirty="0"/>
              <a:t>Top-k </a:t>
            </a:r>
            <a:r>
              <a:rPr lang="zh-CN" altLang="en-US" dirty="0"/>
              <a:t>相似检索</a:t>
            </a:r>
          </a:p>
          <a:p>
            <a:r>
              <a:rPr lang="zh-CN" altLang="en-US" b="1" dirty="0"/>
              <a:t>主题与模型服务</a:t>
            </a:r>
            <a:endParaRPr lang="zh-CN" altLang="en-US" dirty="0"/>
          </a:p>
          <a:p>
            <a:pPr lvl="1"/>
            <a:r>
              <a:rPr lang="zh-CN" altLang="en-US" dirty="0"/>
              <a:t>主题推断（对新文档做 </a:t>
            </a:r>
            <a:r>
              <a:rPr lang="en-US" altLang="zh-CN" dirty="0"/>
              <a:t>topic </a:t>
            </a:r>
            <a:r>
              <a:rPr lang="zh-CN" altLang="en-US" dirty="0"/>
              <a:t>分布）</a:t>
            </a:r>
          </a:p>
          <a:p>
            <a:pPr lvl="1"/>
            <a:r>
              <a:rPr lang="zh-CN" altLang="en-US" dirty="0"/>
              <a:t>主题一致性指标（</a:t>
            </a:r>
            <a:r>
              <a:rPr lang="en-US" altLang="zh-CN" dirty="0"/>
              <a:t>coherence</a:t>
            </a:r>
            <a:r>
              <a:rPr lang="zh-CN" altLang="en-US" dirty="0"/>
              <a:t>）与模型诊断</a:t>
            </a:r>
          </a:p>
          <a:p>
            <a:r>
              <a:rPr lang="zh-CN" altLang="en-US" b="1" dirty="0"/>
              <a:t>内在评测</a:t>
            </a:r>
            <a:endParaRPr lang="zh-CN" altLang="en-US" dirty="0"/>
          </a:p>
          <a:p>
            <a:pPr lvl="1"/>
            <a:r>
              <a:rPr lang="zh-CN" altLang="en-US" dirty="0"/>
              <a:t>类比</a:t>
            </a:r>
            <a:r>
              <a:rPr lang="en-US" altLang="zh-CN" dirty="0"/>
              <a:t>/</a:t>
            </a:r>
            <a:r>
              <a:rPr lang="zh-CN" altLang="en-US" dirty="0"/>
              <a:t>相似度评测工具（向量空间质量评估）</a:t>
            </a:r>
          </a:p>
          <a:p>
            <a:r>
              <a:rPr lang="zh-CN" altLang="en-US" b="1" dirty="0"/>
              <a:t>数据与流水线基础设施</a:t>
            </a:r>
            <a:endParaRPr lang="zh-CN" altLang="en-US" dirty="0"/>
          </a:p>
          <a:p>
            <a:pPr lvl="1"/>
            <a:r>
              <a:rPr lang="zh-CN" altLang="en-US" dirty="0"/>
              <a:t>大语料</a:t>
            </a:r>
            <a:r>
              <a:rPr lang="zh-CN" altLang="en-US" b="1" dirty="0"/>
              <a:t>流式</a:t>
            </a:r>
            <a:r>
              <a:rPr lang="zh-CN" altLang="en-US" dirty="0"/>
              <a:t>读取</a:t>
            </a:r>
            <a:r>
              <a:rPr lang="en-US" altLang="zh-CN" dirty="0"/>
              <a:t>/</a:t>
            </a:r>
            <a:r>
              <a:rPr lang="zh-CN" altLang="en-US" dirty="0"/>
              <a:t>字典构建</a:t>
            </a:r>
            <a:r>
              <a:rPr lang="en-US" altLang="zh-CN" dirty="0"/>
              <a:t>/</a:t>
            </a:r>
            <a:r>
              <a:rPr lang="zh-CN" altLang="en-US" dirty="0"/>
              <a:t>稀疏语料对象</a:t>
            </a:r>
          </a:p>
          <a:p>
            <a:pPr lvl="1"/>
            <a:r>
              <a:rPr lang="zh-CN" altLang="en-US" dirty="0"/>
              <a:t>模型序列化、内存映射加载、在线训练</a:t>
            </a:r>
            <a:r>
              <a:rPr lang="en-US" altLang="zh-CN" dirty="0"/>
              <a:t>/</a:t>
            </a:r>
            <a:r>
              <a:rPr lang="zh-CN" altLang="en-US" dirty="0"/>
              <a:t>增量更新</a:t>
            </a:r>
          </a:p>
          <a:p>
            <a:pPr lvl="1"/>
            <a:r>
              <a:rPr lang="zh-CN" altLang="en-US" dirty="0"/>
              <a:t>与 </a:t>
            </a:r>
            <a:r>
              <a:rPr lang="en-US" altLang="zh-CN" dirty="0"/>
              <a:t>NumPy/Scikit-learn </a:t>
            </a:r>
            <a:r>
              <a:rPr lang="zh-CN" altLang="en-US" dirty="0"/>
              <a:t>友好衔接（分类</a:t>
            </a:r>
            <a:r>
              <a:rPr lang="en-US" altLang="zh-CN" dirty="0"/>
              <a:t>/</a:t>
            </a:r>
            <a:r>
              <a:rPr lang="zh-CN" altLang="en-US" dirty="0"/>
              <a:t>聚类通常依赖外部库）</a:t>
            </a:r>
          </a:p>
          <a:p>
            <a:endParaRPr lang="en-US" altLang="zh-CN" dirty="0"/>
          </a:p>
          <a:p>
            <a:r>
              <a:rPr lang="en-US" altLang="zh-CN" b="0" dirty="0" err="1"/>
              <a:t>Gensim</a:t>
            </a:r>
            <a:r>
              <a:rPr lang="en-US" altLang="zh-CN" b="0" dirty="0"/>
              <a:t> </a:t>
            </a:r>
            <a:r>
              <a:rPr lang="zh-CN" altLang="en-US" b="0" dirty="0"/>
              <a:t>不负责分词</a:t>
            </a:r>
            <a:r>
              <a:rPr lang="en-US" altLang="zh-CN" b="0" dirty="0"/>
              <a:t>/</a:t>
            </a:r>
            <a:r>
              <a:rPr lang="zh-CN" altLang="en-US" b="0" dirty="0"/>
              <a:t>词性</a:t>
            </a:r>
            <a:r>
              <a:rPr lang="en-US" altLang="zh-CN" b="0" dirty="0"/>
              <a:t>/</a:t>
            </a:r>
            <a:r>
              <a:rPr lang="zh-CN" altLang="en-US" b="0" dirty="0"/>
              <a:t>句法等传统 </a:t>
            </a:r>
            <a:r>
              <a:rPr lang="en-US" altLang="zh-CN" b="0" dirty="0"/>
              <a:t>NLP </a:t>
            </a:r>
            <a:r>
              <a:rPr lang="zh-CN" altLang="en-US" b="0" dirty="0"/>
              <a:t>预处理；不内置监督分类器或深度神经网络框架（分类</a:t>
            </a:r>
            <a:r>
              <a:rPr lang="en-US" altLang="zh-CN" b="0" dirty="0"/>
              <a:t>/</a:t>
            </a:r>
            <a:r>
              <a:rPr lang="zh-CN" altLang="en-US" b="0" dirty="0"/>
              <a:t>可视化等需配合 </a:t>
            </a:r>
            <a:r>
              <a:rPr lang="en-US" altLang="zh-CN" b="0" dirty="0" err="1"/>
              <a:t>sklearn</a:t>
            </a:r>
            <a:r>
              <a:rPr lang="en-US" altLang="zh-CN" b="0" dirty="0"/>
              <a:t>/</a:t>
            </a:r>
            <a:r>
              <a:rPr lang="en-US" altLang="zh-CN" b="0" dirty="0" err="1"/>
              <a:t>pyLDAvis</a:t>
            </a:r>
            <a:r>
              <a:rPr lang="en-US" altLang="zh-CN" b="0" dirty="0"/>
              <a:t> </a:t>
            </a:r>
            <a:r>
              <a:rPr lang="zh-CN" altLang="en-US" b="0" dirty="0"/>
              <a:t>等）；</a:t>
            </a:r>
          </a:p>
          <a:p>
            <a:r>
              <a:rPr lang="zh-CN" altLang="en-US" b="0" dirty="0"/>
              <a:t>其强项是：轻量可靠的表示学习 </a:t>
            </a:r>
            <a:r>
              <a:rPr lang="en-US" altLang="zh-CN" b="0" dirty="0"/>
              <a:t>+ </a:t>
            </a:r>
            <a:r>
              <a:rPr lang="zh-CN" altLang="en-US" b="0" dirty="0"/>
              <a:t>可扩展的相似度</a:t>
            </a:r>
            <a:r>
              <a:rPr lang="en-US" altLang="zh-CN" b="0" dirty="0"/>
              <a:t>/</a:t>
            </a:r>
            <a:r>
              <a:rPr lang="zh-CN" altLang="en-US" b="0" dirty="0"/>
              <a:t>主题管线。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663B6-F1FD-4337-B5B8-B2B1532D6F6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93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83677-A33B-E2ED-6F2D-292651C63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AC7C66-7286-0882-55D8-C1BEFBAEB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F828BA-5046-E02A-6B1E-AD796F60B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DAA5-B2B8-40FC-989B-80A62FE8DE0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B3BBBB-0975-78DC-8D7E-D7EA00D73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1E017B-3C8E-942A-1E6E-190666620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5280-DE39-4CEF-9641-AF3C4054A3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E224CF-67F4-0D03-59FB-0BFFE06F7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D57A62-3E0B-FD64-64F5-AC9EF76C8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CA1789-0D48-1C22-1360-89DA53F9F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DAA5-B2B8-40FC-989B-80A62FE8DE0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F4531B-0EE9-8054-816C-0F966A69E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ECE1DE-7D06-A923-0A28-477546DD3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5280-DE39-4CEF-9641-AF3C4054A3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882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3409E9-82A3-51D8-91D3-196E6FC0B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A5665D-C9AB-BBFB-603A-5BFFB448B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F33FFA-D973-2D96-1247-64B695DDC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DAA5-B2B8-40FC-989B-80A62FE8DE0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588BB8-1C40-C98A-F99D-A82B29C56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746C76-27D8-2AA8-CCE0-F9A218BBB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5280-DE39-4CEF-9641-AF3C4054A3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938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A9AC0C-2594-13E6-88B8-E2FCE1BD5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84D2FB-26C4-740A-0E87-08F71E39AF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59C9B9-2D31-AC04-718C-52C1A89B5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1FDE82-BC8E-F628-8A13-8A6787C1C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DAA5-B2B8-40FC-989B-80A62FE8DE0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D3F442-D06B-2EAE-7503-A17747173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481E0C-52E3-B679-792E-325AB24B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5280-DE39-4CEF-9641-AF3C4054A3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660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A408A-71BA-1BB9-06F5-3C27F8D6C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218CEA-041E-57CC-01F9-B157DAD14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DA0639-C942-625E-F508-4CAF75352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F960890-1880-AC9E-6609-475CB0192E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848DC6-65F7-D359-FFAC-E6DA915AF0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4C8A46E-4B3F-9CBE-46DE-E5DBE5091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DAA5-B2B8-40FC-989B-80A62FE8DE0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FCD398E-E8FF-43BF-3581-EA03B1954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AE0EDE-063E-E232-A2EA-24AE687F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5280-DE39-4CEF-9641-AF3C4054A3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621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13794B-1375-771F-5BD0-E8DD88F36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9736B27-4E4D-5121-6A63-966A548E5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DAA5-B2B8-40FC-989B-80A62FE8DE0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497655-686F-BEAE-A680-F4E95828C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B54DC8-F103-430C-D507-86060A92D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5280-DE39-4CEF-9641-AF3C4054A3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073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933A95-4E89-56F7-A09A-B9E37407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DAA5-B2B8-40FC-989B-80A62FE8DE0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0137B9-58F9-BEEA-23DC-3FE460EED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FB02EA-6BB3-BCFE-C42D-CFED63926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5280-DE39-4CEF-9641-AF3C4054A3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021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9F2F7-9F85-1897-75CD-E6FA4FF5A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4247E5-3072-F39D-9A6E-C49818D99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51BF37-F226-D293-EEB4-14A075169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26E205-1E9E-F177-3BBA-120201AE6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DAA5-B2B8-40FC-989B-80A62FE8DE0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2EC3D3-789F-FCE9-F39F-F0F71DEA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AAC043-B830-006F-435F-644867B39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5280-DE39-4CEF-9641-AF3C4054A3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867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6F77C0-7288-659F-4076-C3BBDF704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3C58D42-6C44-CDC5-CB7C-25C2EB0762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34F633-5979-699A-90D0-F26173D82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F616B6-7D0F-743B-396F-EB608DF73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DAA5-B2B8-40FC-989B-80A62FE8DE0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189C7-F0E6-91B8-0B25-260E25CDD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CBA58C-376E-3E5D-67AF-2E6E8DFE1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5280-DE39-4CEF-9641-AF3C4054A3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64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B2BB52-DD38-3AF7-B1CC-F1F724D0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3752D0-6C31-FB5D-C3EB-384EDBCBCE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1EC4EB-E21E-8953-8E00-95D0AFA47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DAA5-B2B8-40FC-989B-80A62FE8DE0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B11231-77DB-2475-D028-07A95137C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00AB82-7904-E96B-7D3A-AE302CE9D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5280-DE39-4CEF-9641-AF3C4054A3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135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DF9E6F-6641-5224-2EFF-FBC2867D4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78A8F3-43B0-DFA5-E56C-26D8A7BEE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745EE8-7921-F9E0-E982-43115B65B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DAA5-B2B8-40FC-989B-80A62FE8DE0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55A7B3-1628-14AA-410A-115847F9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399DA5-CBEB-FE55-2165-BBABCEFA4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5280-DE39-4CEF-9641-AF3C4054A3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263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F691499-F0A2-5837-1855-0DF74CFE7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EA2DE8-52B4-A2DC-05CF-140292683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F24816-CC77-9B91-841E-F3B333AC3E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BDAA5-B2B8-40FC-989B-80A62FE8DE0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AAC03A-EDD2-F24B-167E-ED6854E3F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BBD425-943D-8605-3CFA-CBB301993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25280-DE39-4CEF-9641-AF3C4054A3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686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kheafield.com/papers/avenue/kenlm.pdf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s.brandeis.edu/~cs136a/CS136a_docs/goodman2001.pdf" TargetMode="External"/><Relationship Id="rId4" Type="http://schemas.openxmlformats.org/officeDocument/2006/relationships/hyperlink" Target="https://github.com/kpu/kenlm?spm=a2ty_o01.29997173.0.0.3a12c921YR0hSF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radimrehurek.com/gensi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89E089-FA65-458A-303F-8EC8D568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1" y="-1432400"/>
            <a:ext cx="10515600" cy="2852737"/>
          </a:xfrm>
        </p:spPr>
        <p:txBody>
          <a:bodyPr/>
          <a:lstStyle/>
          <a:p>
            <a:r>
              <a:rPr lang="en-US" altLang="zh-CN" dirty="0"/>
              <a:t>n-gram </a:t>
            </a:r>
            <a:r>
              <a:rPr lang="zh-CN" altLang="en-US" dirty="0"/>
              <a:t>模型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70710A-2358-2BA2-F9F1-405082BD7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377" y="5557195"/>
            <a:ext cx="10515600" cy="1181005"/>
          </a:xfrm>
        </p:spPr>
        <p:txBody>
          <a:bodyPr/>
          <a:lstStyle/>
          <a:p>
            <a:r>
              <a:rPr lang="zh-CN" altLang="en-US" dirty="0"/>
              <a:t>统计方法语言建模的开端，至今也还有一些用处，比如语料库语言学</a:t>
            </a:r>
            <a:endParaRPr lang="en-US" altLang="zh-CN" dirty="0"/>
          </a:p>
          <a:p>
            <a:r>
              <a:rPr lang="zh-CN" altLang="en-US" dirty="0"/>
              <a:t>最优越的可解释性</a:t>
            </a:r>
            <a:r>
              <a:rPr lang="en-US" altLang="zh-CN" dirty="0"/>
              <a:t>? </a:t>
            </a:r>
            <a:r>
              <a:rPr lang="zh-CN" altLang="en-US" dirty="0"/>
              <a:t>呃，</a:t>
            </a:r>
            <a:r>
              <a:rPr lang="en-US" altLang="zh-CN" dirty="0"/>
              <a:t>~~~~~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E01FFA-AAE5-5749-AC60-5543050494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60"/>
          <a:stretch>
            <a:fillRect/>
          </a:stretch>
        </p:blipFill>
        <p:spPr>
          <a:xfrm>
            <a:off x="4141695" y="-6031"/>
            <a:ext cx="7859057" cy="521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155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E01756-205D-405D-A258-39D194285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n-gram</a:t>
            </a:r>
            <a:r>
              <a:rPr lang="zh-CN" altLang="en-US" dirty="0"/>
              <a:t>方法的由来：从 </a:t>
            </a:r>
            <a:r>
              <a:rPr lang="en-US" altLang="zh-CN" dirty="0"/>
              <a:t>Shannon </a:t>
            </a:r>
            <a:r>
              <a:rPr lang="zh-CN" altLang="en-US" dirty="0"/>
              <a:t>的“预测实验”到现代 </a:t>
            </a:r>
            <a:r>
              <a:rPr lang="en-US" altLang="zh-CN" dirty="0"/>
              <a:t>LM </a:t>
            </a:r>
            <a:r>
              <a:rPr lang="zh-CN" altLang="en-US" dirty="0"/>
              <a:t>的起点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C80362-65FB-408A-8DC5-7FA88EB51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957" y="1769035"/>
            <a:ext cx="11592865" cy="4884742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思想种子</a:t>
            </a:r>
            <a:r>
              <a:rPr lang="zh-CN" altLang="en-US" dirty="0"/>
              <a:t>：</a:t>
            </a:r>
            <a:r>
              <a:rPr lang="en-US" altLang="zh-CN" dirty="0"/>
              <a:t>Shannon </a:t>
            </a:r>
            <a:r>
              <a:rPr lang="zh-CN" altLang="en-US" dirty="0"/>
              <a:t>通过“只看前文逐个猜下一个字符”的实验，给出了用</a:t>
            </a:r>
            <a:r>
              <a:rPr lang="zh-CN" altLang="en-US" b="1" dirty="0"/>
              <a:t>有限上下文</a:t>
            </a:r>
            <a:r>
              <a:rPr lang="zh-CN" altLang="en-US" dirty="0"/>
              <a:t>近似语言分布的办法；这就是后来 </a:t>
            </a:r>
            <a:r>
              <a:rPr lang="en-US" altLang="zh-CN" dirty="0"/>
              <a:t>n-gram </a:t>
            </a:r>
            <a:r>
              <a:rPr lang="zh-CN" altLang="en-US" dirty="0"/>
              <a:t>的马尔可夫近似原型。他用不同阶的“字母 </a:t>
            </a:r>
            <a:r>
              <a:rPr lang="en-US" altLang="zh-CN" dirty="0"/>
              <a:t>n-gram”</a:t>
            </a:r>
            <a:r>
              <a:rPr lang="zh-CN" altLang="en-US" dirty="0"/>
              <a:t>估计英语熵，直观展示了“上下文越长，不确定性越小”。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走向工程</a:t>
            </a:r>
            <a:r>
              <a:rPr lang="zh-CN" altLang="en-US" dirty="0"/>
              <a:t>：</a:t>
            </a:r>
            <a:r>
              <a:rPr lang="en-US" altLang="zh-CN" dirty="0"/>
              <a:t>70–90 </a:t>
            </a:r>
            <a:r>
              <a:rPr lang="zh-CN" altLang="en-US" dirty="0"/>
              <a:t>年代，统计语音识别</a:t>
            </a:r>
            <a:r>
              <a:rPr lang="en-US" altLang="zh-CN" dirty="0"/>
              <a:t>/</a:t>
            </a:r>
            <a:r>
              <a:rPr lang="zh-CN" altLang="en-US" dirty="0"/>
              <a:t>机器翻译把 </a:t>
            </a:r>
            <a:r>
              <a:rPr lang="en-US" altLang="zh-CN" b="1" dirty="0"/>
              <a:t>word-level n-gram</a:t>
            </a:r>
            <a:r>
              <a:rPr lang="zh-CN" altLang="en-US" dirty="0"/>
              <a:t> 作为标准语言模型：</a:t>
            </a:r>
            <a:r>
              <a:rPr lang="en-US" altLang="zh-CN" dirty="0"/>
              <a:t>IBM/CMU </a:t>
            </a:r>
            <a:r>
              <a:rPr lang="zh-CN" altLang="en-US" dirty="0"/>
              <a:t>等系统用它降低词序列不确定性（</a:t>
            </a:r>
            <a:r>
              <a:rPr lang="en-US" altLang="zh-CN" dirty="0"/>
              <a:t>ASR </a:t>
            </a:r>
            <a:r>
              <a:rPr lang="zh-CN" altLang="en-US" dirty="0"/>
              <a:t>的词错误率</a:t>
            </a:r>
            <a:r>
              <a:rPr lang="en-US" altLang="zh-CN" dirty="0"/>
              <a:t>/MT </a:t>
            </a:r>
            <a:r>
              <a:rPr lang="zh-CN" altLang="en-US" dirty="0"/>
              <a:t>的搜索剪枝都依赖它）。</a:t>
            </a:r>
            <a:r>
              <a:rPr lang="en-US" altLang="zh-CN" dirty="0"/>
              <a:t>Jelinek </a:t>
            </a:r>
            <a:r>
              <a:rPr lang="zh-CN" altLang="en-US" dirty="0"/>
              <a:t>系统地阐述了</a:t>
            </a:r>
            <a:r>
              <a:rPr lang="zh-CN" altLang="en-US" b="1" dirty="0"/>
              <a:t>统计方法</a:t>
            </a:r>
            <a:r>
              <a:rPr lang="zh-CN" altLang="en-US" dirty="0"/>
              <a:t>在语音中的确立。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主流教材（</a:t>
            </a:r>
            <a:r>
              <a:rPr lang="en-US" altLang="zh-CN" dirty="0" err="1"/>
              <a:t>Jurafsky</a:t>
            </a:r>
            <a:r>
              <a:rPr lang="en-US" altLang="zh-CN" dirty="0"/>
              <a:t> &amp; Martin</a:t>
            </a:r>
            <a:r>
              <a:rPr lang="zh-CN" altLang="en-US" dirty="0"/>
              <a:t>）把 </a:t>
            </a:r>
            <a:r>
              <a:rPr lang="en-US" altLang="zh-CN" dirty="0"/>
              <a:t>n-gram </a:t>
            </a:r>
            <a:r>
              <a:rPr lang="zh-CN" altLang="en-US" dirty="0"/>
              <a:t>定义为“用 </a:t>
            </a:r>
            <a:r>
              <a:rPr lang="en-US" altLang="zh-CN" dirty="0"/>
              <a:t>(n−1) </a:t>
            </a:r>
            <a:r>
              <a:rPr lang="zh-CN" altLang="en-US" dirty="0"/>
              <a:t>阶马尔可夫假设近似链式分解”，是语言建模的</a:t>
            </a:r>
            <a:r>
              <a:rPr lang="zh-CN" altLang="en-US" b="1" dirty="0"/>
              <a:t>第一站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37804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6E996-AB93-4239-87FB-FF8F9B562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一个“有限记忆”的概率近似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3668F7-F99A-4BA6-A686-2AF5D9D39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957" y="890494"/>
            <a:ext cx="11592865" cy="5763283"/>
          </a:xfrm>
        </p:spPr>
        <p:txBody>
          <a:bodyPr/>
          <a:lstStyle/>
          <a:p>
            <a:r>
              <a:rPr lang="zh-CN" altLang="en-US" b="1" dirty="0"/>
              <a:t>统一视角</a:t>
            </a:r>
            <a:r>
              <a:rPr lang="zh-CN" altLang="en-US" dirty="0"/>
              <a:t>：链式法则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训练时“</a:t>
            </a:r>
            <a:r>
              <a:rPr lang="zh-CN" altLang="en-US" b="1" dirty="0"/>
              <a:t>计数→归一化</a:t>
            </a:r>
            <a:r>
              <a:rPr lang="zh-CN" altLang="en-US" dirty="0"/>
              <a:t>”得到 </a:t>
            </a:r>
            <a:r>
              <a:rPr lang="en-US" altLang="zh-CN" dirty="0"/>
              <a:t>MLE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/>
            <a:r>
              <a:rPr lang="zh-CN" altLang="en-US" dirty="0"/>
              <a:t>测试时用它给序列打分</a:t>
            </a:r>
            <a:r>
              <a:rPr lang="en-US" altLang="zh-CN" dirty="0"/>
              <a:t>/</a:t>
            </a:r>
            <a:r>
              <a:rPr lang="zh-CN" altLang="en-US" dirty="0"/>
              <a:t>采样。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优点是</a:t>
            </a:r>
            <a:r>
              <a:rPr lang="zh-CN" altLang="en-US" b="1" dirty="0"/>
              <a:t>直观、可解释、可数</a:t>
            </a:r>
            <a:r>
              <a:rPr lang="zh-CN" altLang="en-US" dirty="0"/>
              <a:t>；缺点是</a:t>
            </a:r>
            <a:r>
              <a:rPr lang="zh-CN" altLang="en-US" b="1" dirty="0"/>
              <a:t>稀疏</a:t>
            </a:r>
            <a:r>
              <a:rPr lang="zh-CN" altLang="en-US" dirty="0"/>
              <a:t>（长尾组合太多）。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n-gram </a:t>
            </a:r>
            <a:r>
              <a:rPr lang="zh-CN" altLang="en-US" dirty="0"/>
              <a:t>方法把“语言</a:t>
            </a:r>
            <a:r>
              <a:rPr lang="en-US" altLang="zh-CN" dirty="0"/>
              <a:t>=</a:t>
            </a:r>
            <a:r>
              <a:rPr lang="zh-CN" altLang="en-US" dirty="0"/>
              <a:t>下一个 </a:t>
            </a:r>
            <a:r>
              <a:rPr lang="en-US" altLang="zh-CN" dirty="0"/>
              <a:t>token </a:t>
            </a:r>
            <a:r>
              <a:rPr lang="zh-CN" altLang="en-US" dirty="0"/>
              <a:t>的条件分布”这件事</a:t>
            </a:r>
            <a:r>
              <a:rPr lang="zh-CN" altLang="en-US" b="1" dirty="0"/>
              <a:t>任务化</a:t>
            </a:r>
            <a:endParaRPr lang="en-US" altLang="zh-CN" b="1" dirty="0"/>
          </a:p>
          <a:p>
            <a:r>
              <a:rPr lang="zh-CN" altLang="en-US" dirty="0"/>
              <a:t>为后面的平滑、类共享、再到神经化奠基。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2725E5-15C2-430B-A22B-829D76184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81" y="1474645"/>
            <a:ext cx="7697274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488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9D1C58-B3DB-414F-A77C-A8ED0EDC1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82" y="104633"/>
            <a:ext cx="11973636" cy="432179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n-gram </a:t>
            </a:r>
            <a:r>
              <a:rPr lang="zh-CN" altLang="en-US" dirty="0"/>
              <a:t>的粒度与计数单位的早期分叉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A0E585-3B4D-497D-9A74-BE9F8C4724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239464"/>
            <a:ext cx="11972925" cy="3183636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zh-CN" b="1" dirty="0"/>
              <a:t>思想</a:t>
            </a:r>
            <a:r>
              <a:rPr lang="zh-CN" altLang="en-US" b="1" dirty="0"/>
              <a:t>核心</a:t>
            </a:r>
            <a:r>
              <a:rPr lang="zh-CN" altLang="zh-CN" b="1" dirty="0"/>
              <a:t>：用什么单元计数，决定了稀疏—表达力—计算成本的平衡。</a:t>
            </a:r>
          </a:p>
          <a:p>
            <a:pPr lvl="0"/>
            <a:r>
              <a:rPr lang="zh-CN" altLang="zh-CN" dirty="0"/>
              <a:t>字母/字符 n-gram（character n-gram）</a:t>
            </a:r>
          </a:p>
          <a:p>
            <a:pPr lvl="1"/>
            <a:r>
              <a:rPr lang="zh-CN" altLang="zh-CN" dirty="0"/>
              <a:t>由 Shannon 的实验直接启发，词表极小、无 OOV，适合压缩/键入预测等；但序列更长，语义跨度靠更高阶才捕到。数据压缩里的 </a:t>
            </a:r>
            <a:r>
              <a:rPr lang="zh-CN" altLang="zh-CN" b="1" dirty="0"/>
              <a:t>PPM（可变阶马尔可夫）</a:t>
            </a:r>
            <a:r>
              <a:rPr lang="zh-CN" altLang="zh-CN" dirty="0"/>
              <a:t>就是字符 n-gram 的强力变体：按需延长上下文、用逃逸概率处理未见。</a:t>
            </a:r>
          </a:p>
          <a:p>
            <a:pPr lvl="0"/>
            <a:r>
              <a:rPr lang="zh-CN" altLang="zh-CN" dirty="0"/>
              <a:t>词级 n-gram（word n-gram）</a:t>
            </a:r>
          </a:p>
          <a:p>
            <a:pPr lvl="1"/>
            <a:r>
              <a:rPr lang="zh-CN" altLang="zh-CN" dirty="0"/>
              <a:t>语义对齐好，是 ASR/MT 的主力；词表巨大、OOV 突出。工业界因此发展了高效的构建/查询（ “工程化”</a:t>
            </a:r>
            <a:r>
              <a:rPr lang="zh-CN" altLang="en-US" dirty="0"/>
              <a:t>的若干种思路</a:t>
            </a:r>
            <a:r>
              <a:rPr lang="zh-CN" altLang="zh-CN" dirty="0"/>
              <a:t>）。</a:t>
            </a:r>
          </a:p>
          <a:p>
            <a:pPr lvl="0"/>
            <a:endParaRPr lang="en-US" altLang="zh-CN" dirty="0"/>
          </a:p>
          <a:p>
            <a:pPr lvl="0"/>
            <a:r>
              <a:rPr lang="zh-CN" altLang="zh-CN" dirty="0"/>
              <a:t>（前神经时代的）子词/类共享思路</a:t>
            </a:r>
          </a:p>
          <a:p>
            <a:pPr lvl="1"/>
            <a:r>
              <a:rPr lang="zh-CN" altLang="zh-CN" dirty="0"/>
              <a:t>类（class-based）n-gram：把词聚成类，先预测类、再预测词，参数共享减少稀疏，Brown 聚类是代表。思想要点：用同分布的词共用上下文统计，牺牲少量细粒度换更稳健泛化。</a:t>
            </a:r>
            <a:endParaRPr lang="en-US" altLang="zh-CN" dirty="0"/>
          </a:p>
          <a:p>
            <a:pPr lvl="1"/>
            <a:r>
              <a:rPr lang="zh-CN" altLang="zh-CN" dirty="0"/>
              <a:t>（可选）变长上下文：受 PPM/压缩启发，按需拉长已观测到的上下文（varigram/PPM 家族），不一味固定 n。</a:t>
            </a:r>
            <a:endParaRPr lang="en-US" altLang="zh-CN" dirty="0"/>
          </a:p>
          <a:p>
            <a:pPr lvl="1"/>
            <a:r>
              <a:rPr lang="zh-CN" altLang="zh-CN" dirty="0"/>
              <a:t>直觉：短时靠统计密集，遇到独特前缀就延长记忆。</a:t>
            </a:r>
          </a:p>
        </p:txBody>
      </p:sp>
    </p:spTree>
    <p:extLst>
      <p:ext uri="{BB962C8B-B14F-4D97-AF65-F5344CB8AC3E}">
        <p14:creationId xmlns:p14="http://schemas.microsoft.com/office/powerpoint/2010/main" val="3419280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D99DCC-3BBE-46A3-BAD4-0DAEEBFF6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82" y="104633"/>
            <a:ext cx="11973636" cy="432179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“</a:t>
            </a:r>
            <a:r>
              <a:rPr lang="zh-CN" altLang="en-US" dirty="0"/>
              <a:t>仍是计数，但更聪明”的计算变种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80012D-3E74-4726-B682-C269699230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8471" y="902448"/>
            <a:ext cx="11759734" cy="34954464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zh-CN" dirty="0"/>
              <a:t>Skip n-gram（跳跃）：允许在窗口内“跳过”若干词形成 n-gram，抓“隔位共现”，兼顾局部稀疏与更远依赖；</a:t>
            </a:r>
            <a:endParaRPr lang="en-US" altLang="zh-CN" dirty="0"/>
          </a:p>
          <a:p>
            <a:pPr lvl="1"/>
            <a:r>
              <a:rPr lang="zh-CN" altLang="zh-CN" dirty="0"/>
              <a:t>与其他技巧并列为有效增益项。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zh-CN" altLang="zh-CN" dirty="0"/>
              <a:t>Cache（缓存）模型：利用短期重复性——最近出现过的词更易再现；将“文档/段落局部频次”与全局 LM 融合，显著降困惑度</a:t>
            </a:r>
            <a:endParaRPr lang="en-US" altLang="zh-CN" dirty="0"/>
          </a:p>
          <a:p>
            <a:pPr lvl="1"/>
            <a:r>
              <a:rPr lang="zh-CN" altLang="zh-CN" dirty="0"/>
              <a:t>特别是</a:t>
            </a:r>
            <a:r>
              <a:rPr lang="zh-CN" altLang="en-US" dirty="0"/>
              <a:t>在</a:t>
            </a:r>
            <a:r>
              <a:rPr lang="zh-CN" altLang="zh-CN" dirty="0"/>
              <a:t>口语/对话</a:t>
            </a:r>
            <a:r>
              <a:rPr lang="zh-CN" altLang="en-US" dirty="0"/>
              <a:t>模型上的应用</a:t>
            </a:r>
            <a:r>
              <a:rPr lang="zh-CN" altLang="zh-CN" dirty="0"/>
              <a:t>。</a:t>
            </a:r>
          </a:p>
          <a:p>
            <a:pPr lvl="0"/>
            <a:endParaRPr lang="en-US" altLang="zh-CN" dirty="0"/>
          </a:p>
          <a:p>
            <a:pPr lvl="0"/>
            <a:r>
              <a:rPr lang="zh-CN" altLang="zh-CN" dirty="0"/>
              <a:t>Trigger（触发）/最大熵特征：刻画远距离互信息（如 stock→market），把“见到 A 提升 B 概率”的信号叠加到 n-gram，补足固定窗口的短视。</a:t>
            </a:r>
            <a:endParaRPr lang="en-US" altLang="zh-CN" dirty="0"/>
          </a:p>
          <a:p>
            <a:pPr lvl="1"/>
            <a:r>
              <a:rPr lang="zh-CN" altLang="en-US" dirty="0"/>
              <a:t>有</a:t>
            </a:r>
            <a:r>
              <a:rPr lang="zh-CN" altLang="zh-CN" dirty="0"/>
              <a:t>综述</a:t>
            </a:r>
            <a:r>
              <a:rPr lang="zh-CN" altLang="en-US" dirty="0"/>
              <a:t>论文报告</a:t>
            </a:r>
            <a:r>
              <a:rPr lang="zh-CN" altLang="zh-CN" dirty="0"/>
              <a:t>在 90 年代多次验证其有效性。</a:t>
            </a:r>
          </a:p>
          <a:p>
            <a:pPr lvl="0"/>
            <a:endParaRPr lang="en-US" altLang="zh-CN" dirty="0"/>
          </a:p>
          <a:p>
            <a:pPr lvl="0"/>
            <a:r>
              <a:rPr lang="zh-CN" altLang="zh-CN" dirty="0"/>
              <a:t>Sentence/Topic Mixture（句子/主题混合）：训练多个子模型，按句子/域进行线性混合或自适应，缓解跨域漂移</a:t>
            </a:r>
            <a:endParaRPr lang="en-US" altLang="zh-CN" dirty="0"/>
          </a:p>
          <a:p>
            <a:pPr lvl="1"/>
            <a:r>
              <a:rPr lang="zh-CN" altLang="zh-CN" dirty="0"/>
              <a:t>Goodman 指出“句子混合”潜力很大</a:t>
            </a:r>
          </a:p>
        </p:txBody>
      </p:sp>
    </p:spTree>
    <p:extLst>
      <p:ext uri="{BB962C8B-B14F-4D97-AF65-F5344CB8AC3E}">
        <p14:creationId xmlns:p14="http://schemas.microsoft.com/office/powerpoint/2010/main" val="2980026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346A84-F570-1A9E-2EC6-D89F2D898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82" y="104633"/>
            <a:ext cx="11973636" cy="432179"/>
          </a:xfrm>
        </p:spPr>
        <p:txBody>
          <a:bodyPr>
            <a:normAutofit fontScale="90000"/>
          </a:bodyPr>
          <a:lstStyle/>
          <a:p>
            <a:r>
              <a:rPr lang="zh-CN" altLang="en-US" sz="3200" b="1" dirty="0"/>
              <a:t>更多“工程化变种”：为规模、适配与泛化服务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237D4E-5431-678C-EE62-EB4AA08D2A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182" y="862947"/>
            <a:ext cx="11972925" cy="5698996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zh-CN" sz="2000" dirty="0"/>
              <a:t>Stupid Backoff（大数据友好）：Google 在超大语料与分布式训练场景下提出的“不归一化回退”，用简单常数衰减替代精细归一化；在海量数据时与 KN 接近、却更易并行实现（MapReduce）。适合作为工业级粗 LM。</a:t>
            </a:r>
          </a:p>
          <a:p>
            <a:pPr lvl="0"/>
            <a:r>
              <a:rPr lang="zh-CN" altLang="zh-CN" sz="2000" dirty="0"/>
              <a:t>缓存（cache）模型：把“近期出现更可能再现”的现实加入语言模型（尤其口语/对话），将近上下文作为短期分布与全局 LM 结合，显著降困惑度。</a:t>
            </a:r>
          </a:p>
          <a:p>
            <a:pPr lvl="0"/>
            <a:r>
              <a:rPr lang="zh-CN" altLang="zh-CN" sz="2000" dirty="0"/>
              <a:t>触发（trigger）模型 / 最大熵框架：利用远距离的“词—词互信息”作为特征（如 stock 触发 market），弥补固定窗口的短视；早期在 WSJ 上有可观降幅。</a:t>
            </a:r>
          </a:p>
          <a:p>
            <a:pPr lvl="0"/>
            <a:r>
              <a:rPr lang="zh-CN" altLang="zh-CN" sz="2000" dirty="0"/>
              <a:t>跳跃（skip）n-gram：允许在固定窗口内跳过若干词形成 n-gram，捕获“隔位共现”；Goodman 系统比较过多种 skip 策略（与后来的 word2vec skip-gram 概念不要混淆）。</a:t>
            </a:r>
          </a:p>
          <a:p>
            <a:pPr lvl="0"/>
            <a:r>
              <a:rPr lang="zh-CN" altLang="zh-CN" sz="2000" dirty="0"/>
              <a:t>类（class-based）n-gram / Brown 聚类：把词聚成类，再做类级 n-gram，既降维又能泛化稀疏组合；是经典的“参数共享”方案。</a:t>
            </a:r>
          </a:p>
          <a:p>
            <a:pPr lvl="0"/>
            <a:r>
              <a:rPr lang="zh-CN" altLang="zh-CN" sz="2000" dirty="0"/>
              <a:t>因子化（factored）语言模型：在词的“词干/形态/POS/簇”等多因子上建条件分布，并用“并行回退图”组织推断，针对形态丰富语言尤有价值。</a:t>
            </a:r>
          </a:p>
          <a:p>
            <a:pPr lvl="0"/>
            <a:r>
              <a:rPr lang="zh-CN" altLang="zh-CN" sz="2000" dirty="0"/>
              <a:t>句子/主题混合（mixture）与自适应：用线性组合在不同域/话题子模型间动态加权，配合在线或测试时自适应，提升跨域稳健性（IR 领域对 JM 混合有系统比较）。</a:t>
            </a:r>
          </a:p>
          <a:p>
            <a:pPr lvl="0"/>
            <a:r>
              <a:rPr lang="zh-CN" altLang="zh-CN" sz="2000" dirty="0"/>
              <a:t>剪枝与压缩（可部署）：用相对熵（KL）损失做“熵剪枝”，删除对 PPL 影响小的 n-gram，以极大幅度压缩 LM 大小，常与 KN 搭配，注意两者交互会影响效果。</a:t>
            </a:r>
          </a:p>
        </p:txBody>
      </p:sp>
    </p:spTree>
    <p:extLst>
      <p:ext uri="{BB962C8B-B14F-4D97-AF65-F5344CB8AC3E}">
        <p14:creationId xmlns:p14="http://schemas.microsoft.com/office/powerpoint/2010/main" val="3292838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388F9B-C98E-4A69-AFDB-A34AB4A17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82" y="104633"/>
            <a:ext cx="11973636" cy="43217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总结一下，让 </a:t>
            </a:r>
            <a:r>
              <a:rPr lang="en-US" altLang="zh-CN" dirty="0"/>
              <a:t>n-gram </a:t>
            </a:r>
            <a:r>
              <a:rPr lang="zh-CN" altLang="en-US" dirty="0"/>
              <a:t>的世界清晰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382D4B-BCAF-4682-A114-1D1AEC12F6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74" y="988452"/>
            <a:ext cx="11972925" cy="5200398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zh-CN" dirty="0"/>
              <a:t>单位选择 = 稀疏与表达力的权衡</a:t>
            </a:r>
            <a:endParaRPr lang="en-US" altLang="zh-CN" dirty="0"/>
          </a:p>
          <a:p>
            <a:pPr lvl="1"/>
            <a:r>
              <a:rPr lang="zh-CN" altLang="zh-CN" dirty="0"/>
              <a:t>字符→无 OOV 但序列更长；</a:t>
            </a:r>
            <a:endParaRPr lang="en-US" altLang="zh-CN" dirty="0"/>
          </a:p>
          <a:p>
            <a:pPr lvl="1"/>
            <a:r>
              <a:rPr lang="zh-CN" altLang="zh-CN" dirty="0"/>
              <a:t>词→语义贴合但词表爆炸；</a:t>
            </a:r>
            <a:endParaRPr lang="en-US" altLang="zh-CN" dirty="0"/>
          </a:p>
          <a:p>
            <a:pPr lvl="1"/>
            <a:r>
              <a:rPr lang="zh-CN" altLang="zh-CN" dirty="0"/>
              <a:t>类/子词→在两者间做共享与折中。</a:t>
            </a:r>
            <a:endParaRPr lang="en-US" altLang="zh-CN" dirty="0"/>
          </a:p>
          <a:p>
            <a:pPr lvl="0"/>
            <a:r>
              <a:rPr lang="zh-CN" altLang="zh-CN" dirty="0"/>
              <a:t>上下文长度不必教条</a:t>
            </a:r>
            <a:endParaRPr lang="en-US" altLang="zh-CN" dirty="0"/>
          </a:p>
          <a:p>
            <a:pPr lvl="1"/>
            <a:r>
              <a:rPr lang="zh-CN" altLang="zh-CN" dirty="0"/>
              <a:t>固定 n 易短视；</a:t>
            </a:r>
            <a:endParaRPr lang="en-US" altLang="zh-CN" dirty="0"/>
          </a:p>
          <a:p>
            <a:pPr lvl="1"/>
            <a:r>
              <a:rPr lang="zh-CN" altLang="zh-CN" dirty="0"/>
              <a:t>通过 skip / 触发 / 变长上下文“在可承受的代价内”捕更远依赖。</a:t>
            </a:r>
          </a:p>
          <a:p>
            <a:pPr lvl="0"/>
            <a:r>
              <a:rPr lang="zh-CN" altLang="zh-CN" dirty="0"/>
              <a:t>静态计数可以“活起来”</a:t>
            </a:r>
            <a:endParaRPr lang="en-US" altLang="zh-CN" dirty="0"/>
          </a:p>
          <a:p>
            <a:pPr lvl="1"/>
            <a:r>
              <a:rPr lang="zh-CN" altLang="zh-CN" dirty="0"/>
              <a:t>cache / mixture 让模型对语篇与域即时适配</a:t>
            </a:r>
          </a:p>
          <a:p>
            <a:pPr lvl="0"/>
            <a:r>
              <a:rPr lang="zh-CN" altLang="zh-CN" dirty="0"/>
              <a:t>工程</a:t>
            </a:r>
            <a:r>
              <a:rPr lang="zh-CN" altLang="en-US" dirty="0"/>
              <a:t>能力同样是高阶</a:t>
            </a:r>
            <a:r>
              <a:rPr lang="zh-CN" altLang="zh-CN" dirty="0"/>
              <a:t>学术贡献</a:t>
            </a:r>
            <a:endParaRPr lang="en-US" altLang="zh-CN" dirty="0"/>
          </a:p>
          <a:p>
            <a:pPr lvl="1"/>
            <a:r>
              <a:rPr lang="zh-CN" altLang="en-US" dirty="0"/>
              <a:t>如何让数据量大到可怕的</a:t>
            </a:r>
            <a:r>
              <a:rPr lang="zh-CN" altLang="zh-CN" dirty="0"/>
              <a:t>“简单计数模型”在真实系统里可用、可维护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zh-CN" dirty="0"/>
              <a:t>高效数据结构（KenLM）和分布式流水线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03149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A2932-4959-47A5-8AC9-93A4E1B0E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82" y="104633"/>
            <a:ext cx="11973636" cy="432179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n-gram </a:t>
            </a:r>
            <a:r>
              <a:rPr lang="zh-CN" altLang="en-US" dirty="0"/>
              <a:t>“计数</a:t>
            </a:r>
            <a:r>
              <a:rPr lang="en-US" altLang="zh-CN" dirty="0"/>
              <a:t>+</a:t>
            </a:r>
            <a:r>
              <a:rPr lang="zh-CN" altLang="en-US" dirty="0"/>
              <a:t>归一化”为何不够？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B5303A-C9EB-4633-AA5A-659EA8A046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976500"/>
            <a:ext cx="11972925" cy="5588196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zh-CN" dirty="0"/>
              <a:t>n-gram MLE 是对出现过的 n-gram 直接用频数归一化，未出现者给 0 概率</a:t>
            </a:r>
            <a:endParaRPr lang="en-US" altLang="zh-CN" dirty="0"/>
          </a:p>
          <a:p>
            <a:pPr lvl="1"/>
            <a:r>
              <a:rPr lang="zh-CN" altLang="zh-CN" dirty="0"/>
              <a:t>直观、可解释，但只要 n 稍大，数据立刻“高度稀疏”</a:t>
            </a:r>
            <a:endParaRPr lang="en-US" altLang="zh-CN" dirty="0"/>
          </a:p>
          <a:p>
            <a:pPr lvl="1"/>
            <a:r>
              <a:rPr lang="zh-CN" altLang="zh-CN" dirty="0"/>
              <a:t>真实语言服从 Zipf/长尾分布，测试集里充满“没见过但合理”的组合，导致联合概率被 0 主导，困惑度暴涨。</a:t>
            </a:r>
            <a:endParaRPr lang="en-US" altLang="zh-CN" dirty="0"/>
          </a:p>
          <a:p>
            <a:pPr lvl="1"/>
            <a:r>
              <a:rPr lang="zh-CN" altLang="zh-CN" dirty="0"/>
              <a:t>教材将此称为“稀疏与未见事件问题”。</a:t>
            </a:r>
          </a:p>
          <a:p>
            <a:pPr lvl="0"/>
            <a:endParaRPr lang="en-US" altLang="zh-CN" dirty="0"/>
          </a:p>
          <a:p>
            <a:pPr lvl="0"/>
            <a:r>
              <a:rPr lang="zh-CN" altLang="zh-CN" dirty="0"/>
              <a:t>训练语料再大，也无法覆盖长尾组合</a:t>
            </a:r>
            <a:endParaRPr lang="en-US" altLang="zh-CN" dirty="0"/>
          </a:p>
          <a:p>
            <a:pPr lvl="1"/>
            <a:r>
              <a:rPr lang="zh-CN" altLang="zh-CN" dirty="0"/>
              <a:t>直接把所有质量押注在“见过的计数”上，会把概率质量“锁死”在训练集，无法给测试集留下“生存空间”。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平滑（smoothing）要解决的本质任务</a:t>
            </a:r>
            <a:endParaRPr lang="en-US" altLang="zh-CN" dirty="0"/>
          </a:p>
          <a:p>
            <a:pPr lvl="1"/>
            <a:r>
              <a:rPr lang="zh-CN" altLang="zh-CN" dirty="0"/>
              <a:t>把一部分概率质量从已见事件挪给未见/少见事件，且要“挪得合理”。</a:t>
            </a:r>
            <a:endParaRPr lang="en-US" altLang="zh-CN" dirty="0"/>
          </a:p>
          <a:p>
            <a:pPr lvl="1"/>
            <a:r>
              <a:rPr lang="en-US" altLang="zh-CN" dirty="0"/>
              <a:t>n-gram </a:t>
            </a:r>
            <a:r>
              <a:rPr lang="zh-CN" altLang="zh-CN" dirty="0"/>
              <a:t>仅靠 MLE 难以泛化，平滑是语言模型不可缺的“安全气囊”。</a:t>
            </a:r>
          </a:p>
        </p:txBody>
      </p:sp>
    </p:spTree>
    <p:extLst>
      <p:ext uri="{BB962C8B-B14F-4D97-AF65-F5344CB8AC3E}">
        <p14:creationId xmlns:p14="http://schemas.microsoft.com/office/powerpoint/2010/main" val="3602965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B4EDCE-56E5-4009-A9AE-F23A7EBF3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82" y="104633"/>
            <a:ext cx="11973636" cy="432179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n-gram</a:t>
            </a:r>
            <a:r>
              <a:rPr lang="zh-CN" altLang="en-US" dirty="0"/>
              <a:t>平滑方法的思想谱系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79D52B-5EC8-4984-B6B1-BF5269264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93" y="839041"/>
            <a:ext cx="11972925" cy="6234112"/>
          </a:xfrm>
        </p:spPr>
        <p:txBody>
          <a:bodyPr anchor="t">
            <a:normAutofit fontScale="92500" lnSpcReduction="10000"/>
          </a:bodyPr>
          <a:lstStyle/>
          <a:p>
            <a:r>
              <a:rPr lang="en-US" altLang="zh-CN" dirty="0"/>
              <a:t>A. Jelinek–Mercer</a:t>
            </a:r>
            <a:r>
              <a:rPr lang="zh-CN" altLang="en-US" dirty="0"/>
              <a:t>（线性插值）：高阶模型“说话”时，同时给低阶模型一个话筒。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高阶 </a:t>
            </a:r>
            <a:r>
              <a:rPr lang="en-US" altLang="zh-CN" dirty="0"/>
              <a:t>MLE </a:t>
            </a:r>
            <a:r>
              <a:rPr lang="zh-CN" altLang="en-US" dirty="0"/>
              <a:t>与低阶（乃至语料</a:t>
            </a:r>
            <a:r>
              <a:rPr lang="en-US" altLang="zh-CN" dirty="0"/>
              <a:t>/</a:t>
            </a:r>
            <a:r>
              <a:rPr lang="zh-CN" altLang="en-US" dirty="0"/>
              <a:t>集合模型）按权重混合，权重 </a:t>
            </a:r>
            <a:r>
              <a:rPr lang="en-US" altLang="zh-CN" dirty="0"/>
              <a:t>λ </a:t>
            </a:r>
            <a:r>
              <a:rPr lang="zh-CN" altLang="en-US" dirty="0"/>
              <a:t>可调或分场景自适应</a:t>
            </a:r>
            <a:endParaRPr lang="en-US" altLang="zh-CN" dirty="0"/>
          </a:p>
          <a:p>
            <a:pPr lvl="1"/>
            <a:r>
              <a:rPr lang="zh-CN" altLang="en-US" dirty="0"/>
              <a:t>优点是简单稳健、实现容易；缺点是“怎么设 </a:t>
            </a:r>
            <a:r>
              <a:rPr lang="en-US" altLang="zh-CN" dirty="0"/>
              <a:t>λ”</a:t>
            </a:r>
            <a:r>
              <a:rPr lang="zh-CN" altLang="en-US" dirty="0"/>
              <a:t>敏感，且未显式区分“词的频率”与“作为新续接出现的倾向”。</a:t>
            </a:r>
          </a:p>
          <a:p>
            <a:r>
              <a:rPr lang="en-US" altLang="zh-CN" dirty="0"/>
              <a:t>B. Katz Back-off</a:t>
            </a:r>
            <a:r>
              <a:rPr lang="zh-CN" altLang="en-US" dirty="0"/>
              <a:t>（回退 </a:t>
            </a:r>
            <a:r>
              <a:rPr lang="en-US" altLang="zh-CN" dirty="0"/>
              <a:t>+ </a:t>
            </a:r>
            <a:r>
              <a:rPr lang="zh-CN" altLang="en-US" dirty="0"/>
              <a:t>折扣）：</a:t>
            </a:r>
            <a:endParaRPr lang="en-US" altLang="zh-CN" dirty="0"/>
          </a:p>
          <a:p>
            <a:pPr lvl="1"/>
            <a:r>
              <a:rPr lang="zh-CN" altLang="en-US" dirty="0"/>
              <a:t>对见过的高阶 </a:t>
            </a:r>
            <a:r>
              <a:rPr lang="en-US" altLang="zh-CN" dirty="0"/>
              <a:t>n-gram </a:t>
            </a:r>
            <a:r>
              <a:rPr lang="zh-CN" altLang="en-US" dirty="0"/>
              <a:t>做折扣（通常基于 </a:t>
            </a:r>
            <a:r>
              <a:rPr lang="en-US" altLang="zh-CN" dirty="0"/>
              <a:t>Good–Turing</a:t>
            </a:r>
            <a:r>
              <a:rPr lang="zh-CN" altLang="en-US" dirty="0"/>
              <a:t>），扣下的总质量“回退”到低阶模型；</a:t>
            </a:r>
            <a:endParaRPr lang="en-US" altLang="zh-CN" dirty="0"/>
          </a:p>
          <a:p>
            <a:pPr lvl="1"/>
            <a:r>
              <a:rPr lang="zh-CN" altLang="en-US" dirty="0"/>
              <a:t>对没见过的 </a:t>
            </a:r>
            <a:r>
              <a:rPr lang="en-US" altLang="zh-CN" dirty="0"/>
              <a:t>n-gram</a:t>
            </a:r>
            <a:r>
              <a:rPr lang="zh-CN" altLang="en-US" dirty="0"/>
              <a:t>，直接回退。</a:t>
            </a:r>
            <a:endParaRPr lang="en-US" altLang="zh-CN" dirty="0"/>
          </a:p>
          <a:p>
            <a:pPr lvl="1"/>
            <a:r>
              <a:rPr lang="zh-CN" altLang="en-US" dirty="0"/>
              <a:t>优点是保持高阶计数的主导权、节省参数；缺点是对低阶分布的利用较为“粗”，在跨域或极长尾场景可能不如插值稳定。原始论文动机非常清晰：稀疏数据下既要算得过、又要存得下。</a:t>
            </a:r>
          </a:p>
          <a:p>
            <a:r>
              <a:rPr lang="en-US" altLang="zh-CN" dirty="0"/>
              <a:t>C. </a:t>
            </a:r>
            <a:r>
              <a:rPr lang="en-US" altLang="zh-CN" dirty="0" err="1"/>
              <a:t>Kneser</a:t>
            </a:r>
            <a:r>
              <a:rPr lang="en-US" altLang="zh-CN" dirty="0"/>
              <a:t>–Ney / </a:t>
            </a:r>
            <a:r>
              <a:rPr lang="zh-CN" altLang="en-US" dirty="0"/>
              <a:t>改进（</a:t>
            </a:r>
            <a:r>
              <a:rPr lang="en-US" altLang="zh-CN" dirty="0"/>
              <a:t>Modified </a:t>
            </a:r>
            <a:r>
              <a:rPr lang="en-US" altLang="zh-CN" dirty="0" err="1"/>
              <a:t>Kneser</a:t>
            </a:r>
            <a:r>
              <a:rPr lang="en-US" altLang="zh-CN" dirty="0"/>
              <a:t>–Ney, IKN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低阶分布不再用普通的一元频率 </a:t>
            </a:r>
            <a:r>
              <a:rPr lang="en-US" altLang="zh-CN" dirty="0"/>
              <a:t>P(w) </a:t>
            </a:r>
            <a:r>
              <a:rPr lang="zh-CN" altLang="en-US" dirty="0"/>
              <a:t>，而用“续接概率”𝑃</a:t>
            </a:r>
            <a:r>
              <a:rPr lang="en-US" altLang="zh-CN" baseline="-25000" dirty="0" err="1"/>
              <a:t>cont</a:t>
            </a:r>
            <a:r>
              <a:rPr lang="en-US" altLang="zh-CN" dirty="0"/>
              <a:t>(</a:t>
            </a:r>
            <a:r>
              <a:rPr lang="zh-CN" altLang="en-US" dirty="0"/>
              <a:t>𝑤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一个词 </a:t>
            </a:r>
            <a:r>
              <a:rPr lang="en-US" altLang="zh-CN" dirty="0"/>
              <a:t>w</a:t>
            </a:r>
            <a:r>
              <a:rPr lang="zh-CN" altLang="en-US" dirty="0"/>
              <a:t> 出现在多少个不同的左邻上下文之后（即“它作为新续接的多样性”）。</a:t>
            </a:r>
            <a:endParaRPr lang="en-US" altLang="zh-CN" dirty="0"/>
          </a:p>
          <a:p>
            <a:pPr lvl="1"/>
            <a:r>
              <a:rPr lang="zh-CN" altLang="en-US" dirty="0"/>
              <a:t>例如 </a:t>
            </a:r>
            <a:r>
              <a:rPr lang="en-US" altLang="zh-CN" dirty="0"/>
              <a:t>Francisco</a:t>
            </a:r>
            <a:r>
              <a:rPr lang="zh-CN" altLang="en-US" dirty="0"/>
              <a:t> 频数不高，但几乎只跟 </a:t>
            </a:r>
            <a:r>
              <a:rPr lang="en-US" altLang="zh-CN" dirty="0"/>
              <a:t>San</a:t>
            </a:r>
            <a:r>
              <a:rPr lang="zh-CN" altLang="en-US" dirty="0"/>
              <a:t> 连用；</a:t>
            </a:r>
            <a:r>
              <a:rPr lang="en-US" altLang="zh-CN" dirty="0"/>
              <a:t>glasses</a:t>
            </a:r>
            <a:r>
              <a:rPr lang="zh-CN" altLang="en-US" dirty="0"/>
              <a:t> 左邻非常多样。</a:t>
            </a:r>
            <a:endParaRPr lang="en-US" altLang="zh-CN" dirty="0"/>
          </a:p>
          <a:p>
            <a:pPr lvl="1"/>
            <a:r>
              <a:rPr lang="zh-CN" altLang="en-US" dirty="0"/>
              <a:t>在做回退</a:t>
            </a:r>
            <a:r>
              <a:rPr lang="en-US" altLang="zh-CN" dirty="0"/>
              <a:t>/</a:t>
            </a:r>
            <a:r>
              <a:rPr lang="zh-CN" altLang="en-US" dirty="0"/>
              <a:t>插值时，优先把质量给“更可能作为新续接”的词，而不是单纯“全局频繁词”。</a:t>
            </a:r>
            <a:endParaRPr lang="en-US" altLang="zh-CN" dirty="0"/>
          </a:p>
          <a:p>
            <a:pPr lvl="1"/>
            <a:r>
              <a:rPr lang="zh-CN" altLang="en-US" dirty="0"/>
              <a:t>改进版 </a:t>
            </a:r>
            <a:r>
              <a:rPr lang="en-US" altLang="zh-CN" dirty="0"/>
              <a:t>IKN </a:t>
            </a:r>
            <a:r>
              <a:rPr lang="zh-CN" altLang="en-US" dirty="0"/>
              <a:t>进一步用分段折扣 与插值形式提升鲁棒性。</a:t>
            </a:r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C0763AE-767B-45E3-B26E-45B49B683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35" y="1272970"/>
            <a:ext cx="6944694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447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0612E-08A9-26B4-2B9F-220219389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82" y="236115"/>
            <a:ext cx="11973636" cy="432179"/>
          </a:xfrm>
        </p:spPr>
        <p:txBody>
          <a:bodyPr>
            <a:normAutofit fontScale="90000"/>
          </a:bodyPr>
          <a:lstStyle/>
          <a:p>
            <a:r>
              <a:rPr lang="en-US" altLang="zh-CN" sz="4000" dirty="0"/>
              <a:t>n-gram </a:t>
            </a:r>
            <a:r>
              <a:rPr lang="zh-CN" altLang="en-US" sz="4000" dirty="0"/>
              <a:t>的结构性局限（为什么后来要神经化</a:t>
            </a:r>
            <a:r>
              <a:rPr lang="en-US" altLang="zh-CN" sz="4000" dirty="0"/>
              <a:t>/</a:t>
            </a:r>
            <a:r>
              <a:rPr lang="zh-CN" altLang="en-US" sz="4000" dirty="0"/>
              <a:t>注意力）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3F4E88-0AA1-EFE3-3333-3AD82BB207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9177" y="1306974"/>
            <a:ext cx="11526651" cy="31004256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zh-CN" dirty="0"/>
              <a:t>长距离依赖：</a:t>
            </a:r>
            <a:endParaRPr lang="en-US" altLang="zh-CN" dirty="0"/>
          </a:p>
          <a:p>
            <a:pPr lvl="1"/>
            <a:r>
              <a:rPr lang="zh-CN" altLang="zh-CN" dirty="0"/>
              <a:t>n-gram 截断上下文，难以捕捉跨从句、跨话轮的约束（如主谓一致、篇章照应）。</a:t>
            </a:r>
            <a:endParaRPr lang="en-US" altLang="zh-CN" dirty="0"/>
          </a:p>
          <a:p>
            <a:pPr lvl="1"/>
            <a:r>
              <a:rPr lang="zh-CN" altLang="zh-CN" dirty="0"/>
              <a:t>这不是“堆更多数据”能根治的，除非 n 无上限且检索/存储/计算都能支持</a:t>
            </a:r>
            <a:endParaRPr lang="en-US" altLang="zh-CN" dirty="0"/>
          </a:p>
          <a:p>
            <a:pPr lvl="1"/>
            <a:r>
              <a:rPr lang="zh-CN" altLang="zh-CN" dirty="0"/>
              <a:t>经典教材与课程反复强调这一点。</a:t>
            </a:r>
          </a:p>
          <a:p>
            <a:pPr lvl="0"/>
            <a:r>
              <a:rPr lang="zh-CN" altLang="zh-CN" dirty="0"/>
              <a:t>参数/存储与检索成本：</a:t>
            </a:r>
            <a:endParaRPr lang="en-US" altLang="zh-CN" dirty="0"/>
          </a:p>
          <a:p>
            <a:pPr lvl="1"/>
            <a:r>
              <a:rPr lang="zh-CN" altLang="zh-CN" dirty="0"/>
              <a:t>理论参数量 O(</a:t>
            </a:r>
            <a:r>
              <a:rPr lang="en-US" altLang="zh-CN" dirty="0"/>
              <a:t>|</a:t>
            </a:r>
            <a:r>
              <a:rPr lang="zh-CN" altLang="zh-CN" dirty="0"/>
              <a:t>V</a:t>
            </a:r>
            <a:r>
              <a:rPr lang="en-US" altLang="zh-CN" dirty="0"/>
              <a:t>|</a:t>
            </a:r>
            <a:r>
              <a:rPr lang="zh-CN" altLang="zh-CN" baseline="30000" dirty="0"/>
              <a:t>n</a:t>
            </a:r>
            <a:r>
              <a:rPr lang="zh-CN" altLang="zh-CN" dirty="0"/>
              <a:t>)，工程上虽只存“见过的”，但随着 n 与语料上升仍呈爆炸趋势；</a:t>
            </a:r>
            <a:endParaRPr lang="en-US" altLang="zh-CN" dirty="0"/>
          </a:p>
          <a:p>
            <a:pPr lvl="1"/>
            <a:r>
              <a:rPr lang="zh-CN" altLang="zh-CN" dirty="0"/>
              <a:t>构建、查表、压缩与部署都很费。</a:t>
            </a:r>
          </a:p>
          <a:p>
            <a:pPr lvl="0"/>
            <a:r>
              <a:rPr lang="zh-CN" altLang="zh-CN" dirty="0"/>
              <a:t>OOV 与形态变化：</a:t>
            </a:r>
            <a:endParaRPr lang="en-US" altLang="zh-CN" dirty="0"/>
          </a:p>
          <a:p>
            <a:pPr lvl="1"/>
            <a:r>
              <a:rPr lang="zh-CN" altLang="zh-CN" dirty="0"/>
              <a:t>词形丰富语言（黏着语、复合词）会把计数分散到大量变体</a:t>
            </a:r>
            <a:endParaRPr lang="en-US" altLang="zh-CN" dirty="0"/>
          </a:p>
          <a:p>
            <a:pPr lvl="1"/>
            <a:r>
              <a:rPr lang="zh-CN" altLang="zh-CN" dirty="0"/>
              <a:t>“未知词（UNK）”策略粗糙，难以复用子词规律</a:t>
            </a:r>
            <a:endParaRPr lang="en-US" altLang="zh-CN" dirty="0"/>
          </a:p>
          <a:p>
            <a:pPr lvl="1"/>
            <a:r>
              <a:rPr lang="zh-CN" altLang="zh-CN" dirty="0"/>
              <a:t>这正是后来子词化与神经表征切入的突破口</a:t>
            </a:r>
          </a:p>
          <a:p>
            <a:pPr lvl="0"/>
            <a:r>
              <a:rPr lang="zh-CN" altLang="zh-CN" dirty="0"/>
              <a:t>域外迁移弱：</a:t>
            </a:r>
            <a:endParaRPr lang="en-US" altLang="zh-CN" dirty="0"/>
          </a:p>
          <a:p>
            <a:pPr lvl="1"/>
            <a:r>
              <a:rPr lang="zh-CN" altLang="zh-CN" dirty="0"/>
              <a:t>n-gram 更像“语料记忆器”，域内可很强，迁出域就容易塌；</a:t>
            </a:r>
            <a:endParaRPr lang="en-US" altLang="zh-CN" dirty="0"/>
          </a:p>
          <a:p>
            <a:pPr lvl="1"/>
            <a:r>
              <a:rPr lang="zh-CN" altLang="zh-CN" dirty="0"/>
              <a:t>平滑能“垫底”，但无法提供语义层面的组合泛化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61A543-F604-817F-848B-F9B5EC909E25}"/>
              </a:ext>
            </a:extLst>
          </p:cNvPr>
          <p:cNvSpPr txBox="1"/>
          <p:nvPr/>
        </p:nvSpPr>
        <p:spPr>
          <a:xfrm>
            <a:off x="6068894" y="895483"/>
            <a:ext cx="5666934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“</a:t>
            </a:r>
            <a:r>
              <a:rPr lang="zh-CN" altLang="en-US" b="1" dirty="0"/>
              <a:t>The soups </a:t>
            </a:r>
            <a:r>
              <a:rPr lang="zh-CN" altLang="en-US" dirty="0"/>
              <a:t>that I made from that new cookbook I bought yesterday </a:t>
            </a:r>
            <a:r>
              <a:rPr lang="zh-CN" altLang="en-US" b="1" dirty="0"/>
              <a:t>were</a:t>
            </a:r>
            <a:r>
              <a:rPr lang="zh-CN" altLang="en-US" dirty="0"/>
              <a:t> amazingly </a:t>
            </a:r>
            <a:r>
              <a:rPr lang="zh-CN" altLang="en-US" b="1" dirty="0"/>
              <a:t>delicious</a:t>
            </a:r>
            <a:r>
              <a:rPr lang="zh-CN" altLang="en-US" dirty="0"/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4251392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913B4-48A3-D25D-A33C-E6F49FEA8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74" y="-82063"/>
            <a:ext cx="10515600" cy="1325563"/>
          </a:xfrm>
        </p:spPr>
        <p:txBody>
          <a:bodyPr/>
          <a:lstStyle/>
          <a:p>
            <a:r>
              <a:rPr lang="zh-CN" altLang="en-US" dirty="0"/>
              <a:t>编程作业：自己尝试进行训练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005262-76B1-8442-FCFF-5F386BD9E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74" y="1036059"/>
            <a:ext cx="11793651" cy="5298241"/>
          </a:xfr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以在微信群中公布的人民日报切分标注版（这次必须得清理掉所有多余的</a:t>
            </a:r>
            <a:r>
              <a:rPr lang="en-US" altLang="zh-CN" dirty="0">
                <a:solidFill>
                  <a:schemeClr val="tx1"/>
                </a:solidFill>
              </a:rPr>
              <a:t>tag</a:t>
            </a:r>
            <a:r>
              <a:rPr lang="zh-CN" altLang="en-US" dirty="0">
                <a:solidFill>
                  <a:schemeClr val="tx1"/>
                </a:solidFill>
              </a:rPr>
              <a:t>和标签了，为什么？）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运用前面提到的工具进行 </a:t>
            </a:r>
            <a:r>
              <a:rPr lang="en-US" altLang="zh-CN" dirty="0">
                <a:solidFill>
                  <a:schemeClr val="tx1"/>
                </a:solidFill>
              </a:rPr>
              <a:t>n-gram </a:t>
            </a:r>
            <a:r>
              <a:rPr lang="zh-CN" altLang="en-US" dirty="0">
                <a:solidFill>
                  <a:schemeClr val="tx1"/>
                </a:solidFill>
              </a:rPr>
              <a:t>建模训练。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对比训练时间，观察训练过程。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尝试用</a:t>
            </a:r>
            <a:r>
              <a:rPr lang="en-US" altLang="zh-CN" dirty="0">
                <a:solidFill>
                  <a:schemeClr val="tx1"/>
                </a:solidFill>
              </a:rPr>
              <a:t>n-gram</a:t>
            </a:r>
            <a:r>
              <a:rPr lang="zh-CN" altLang="en-US" dirty="0">
                <a:solidFill>
                  <a:schemeClr val="tx1"/>
                </a:solidFill>
              </a:rPr>
              <a:t>模型设置不同的参数进行文本生成，比如以下面的文本为开头，进行续写：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“在阳光明媚的五月，我们学校胜利召开了</a:t>
            </a:r>
            <a:r>
              <a:rPr lang="en-US" altLang="zh-CN" dirty="0">
                <a:solidFill>
                  <a:schemeClr val="tx1"/>
                </a:solidFill>
              </a:rPr>
              <a:t>……”</a:t>
            </a: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b="1" dirty="0">
                <a:solidFill>
                  <a:srgbClr val="C00000"/>
                </a:solidFill>
              </a:rPr>
              <a:t>分享自己的训练过程和成果；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b="1" dirty="0">
                <a:solidFill>
                  <a:srgbClr val="C00000"/>
                </a:solidFill>
              </a:rPr>
              <a:t>鼓励使用 </a:t>
            </a:r>
            <a:r>
              <a:rPr lang="en-US" altLang="zh-CN" b="1" dirty="0">
                <a:solidFill>
                  <a:srgbClr val="C00000"/>
                </a:solidFill>
              </a:rPr>
              <a:t>vibe coding</a:t>
            </a:r>
            <a:r>
              <a:rPr lang="zh-CN" altLang="en-US" b="1" dirty="0">
                <a:solidFill>
                  <a:srgbClr val="C00000"/>
                </a:solidFill>
              </a:rPr>
              <a:t>，但是更重要的是对代码的认知，这也是</a:t>
            </a:r>
            <a:r>
              <a:rPr lang="en-US" altLang="zh-CN" b="1" dirty="0">
                <a:solidFill>
                  <a:srgbClr val="C00000"/>
                </a:solidFill>
              </a:rPr>
              <a:t>vibe coding</a:t>
            </a:r>
            <a:r>
              <a:rPr lang="zh-CN" altLang="en-US" b="1" dirty="0">
                <a:solidFill>
                  <a:srgbClr val="C00000"/>
                </a:solidFill>
              </a:rPr>
              <a:t>，但产出的目标是理解，而不仅仅是能跑动的代码</a:t>
            </a:r>
          </a:p>
        </p:txBody>
      </p:sp>
    </p:spTree>
    <p:extLst>
      <p:ext uri="{BB962C8B-B14F-4D97-AF65-F5344CB8AC3E}">
        <p14:creationId xmlns:p14="http://schemas.microsoft.com/office/powerpoint/2010/main" val="3751208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533341-6ECC-FE77-92A8-80B82D4AE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82" y="104633"/>
            <a:ext cx="11973636" cy="43217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几个简单的思考题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C68C08-83CE-692E-0348-C0C471B7F8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182" y="779276"/>
            <a:ext cx="11972925" cy="3707682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zh-CN" dirty="0"/>
              <a:t>为什么 KN 要看“续接多样性”而不是词频？</a:t>
            </a:r>
            <a:endParaRPr lang="en-US" altLang="zh-CN" dirty="0"/>
          </a:p>
          <a:p>
            <a:r>
              <a:rPr lang="zh-CN" altLang="zh-CN" dirty="0"/>
              <a:t>JM</a:t>
            </a:r>
            <a:r>
              <a:rPr lang="zh-CN" altLang="en-US" dirty="0"/>
              <a:t>、</a:t>
            </a:r>
            <a:r>
              <a:rPr lang="zh-CN" altLang="zh-CN" dirty="0"/>
              <a:t> Katz</a:t>
            </a:r>
            <a:r>
              <a:rPr lang="en-US" altLang="zh-CN" dirty="0"/>
              <a:t> </a:t>
            </a:r>
            <a:r>
              <a:rPr lang="zh-CN" altLang="en-US" dirty="0"/>
              <a:t>与 </a:t>
            </a:r>
            <a:r>
              <a:rPr lang="en-US" altLang="zh-CN" dirty="0"/>
              <a:t>KN</a:t>
            </a:r>
            <a:r>
              <a:rPr lang="zh-CN" altLang="zh-CN" dirty="0"/>
              <a:t> 谁更“工程友好”？</a:t>
            </a:r>
            <a:br>
              <a:rPr lang="zh-CN" altLang="zh-CN" dirty="0"/>
            </a:br>
            <a:endParaRPr lang="en-US" altLang="zh-CN" dirty="0"/>
          </a:p>
          <a:p>
            <a:pPr marL="0" indent="0">
              <a:buNone/>
            </a:pPr>
            <a:r>
              <a:rPr lang="zh-CN" altLang="en-US" b="1" dirty="0"/>
              <a:t>下面是关键的问题</a:t>
            </a:r>
            <a:r>
              <a:rPr lang="en-US" altLang="zh-CN" b="1" dirty="0"/>
              <a:t>, </a:t>
            </a:r>
            <a:r>
              <a:rPr lang="zh-CN" altLang="en-US" b="1" dirty="0"/>
              <a:t>这个问题欢迎各位同学在 </a:t>
            </a:r>
            <a:r>
              <a:rPr lang="en-US" altLang="zh-CN" b="1" dirty="0"/>
              <a:t>piazza </a:t>
            </a:r>
            <a:r>
              <a:rPr lang="zh-CN" altLang="en-US" b="1" dirty="0"/>
              <a:t>上分享的自己的学习过程、理解和认知。</a:t>
            </a:r>
            <a:endParaRPr lang="en-US" altLang="zh-CN" b="1" dirty="0"/>
          </a:p>
          <a:p>
            <a:r>
              <a:rPr lang="zh-CN" altLang="en-US" b="1" dirty="0"/>
              <a:t>依赖问题的根本原因和目的是什么？</a:t>
            </a:r>
            <a:endParaRPr lang="en-US" altLang="zh-CN" b="1" dirty="0"/>
          </a:p>
          <a:p>
            <a:r>
              <a:rPr lang="zh-CN" altLang="zh-CN" b="1" dirty="0"/>
              <a:t>如果无限增大 n </a:t>
            </a:r>
            <a:r>
              <a:rPr lang="zh-CN" altLang="en-US" b="1" dirty="0"/>
              <a:t>，</a:t>
            </a:r>
            <a:r>
              <a:rPr lang="zh-CN" altLang="zh-CN" b="1" dirty="0"/>
              <a:t>把 n-gram 做成“∞-gram”，</a:t>
            </a:r>
            <a:r>
              <a:rPr lang="zh-CN" altLang="en-US" b="1" dirty="0"/>
              <a:t>能</a:t>
            </a:r>
            <a:r>
              <a:rPr lang="zh-CN" altLang="zh-CN" b="1" dirty="0"/>
              <a:t>解决长依赖</a:t>
            </a:r>
            <a:r>
              <a:rPr lang="zh-CN" altLang="en-US" b="1" dirty="0"/>
              <a:t>问题</a:t>
            </a:r>
            <a:r>
              <a:rPr lang="zh-CN" altLang="zh-CN" b="1" dirty="0"/>
              <a:t>吗？</a:t>
            </a:r>
            <a:br>
              <a:rPr lang="zh-CN" altLang="zh-CN" b="1" dirty="0"/>
            </a:br>
            <a:endParaRPr lang="zh-CN" altLang="zh-CN" b="1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E12E5C4-E793-DB66-8191-7D7842504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09" y="3952844"/>
            <a:ext cx="7917946" cy="280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478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31E6B584-2702-4CB1-5CB9-474859B2E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82" y="104633"/>
            <a:ext cx="11973636" cy="43217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结构性局限无法解决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BACC86-EAAD-23D1-5744-86FBD5AF7F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182" y="934024"/>
            <a:ext cx="11973636" cy="28770072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zh-CN" sz="3200" dirty="0"/>
              <a:t>长程依赖：</a:t>
            </a:r>
            <a:endParaRPr lang="en-US" altLang="zh-CN" sz="3200" dirty="0"/>
          </a:p>
          <a:p>
            <a:pPr lvl="1"/>
            <a:r>
              <a:rPr lang="zh-CN" altLang="zh-CN" sz="2800" dirty="0"/>
              <a:t>固定 n 无法稳健记住跨句/篇章约束；</a:t>
            </a:r>
            <a:endParaRPr lang="en-US" altLang="zh-CN" sz="2800" dirty="0"/>
          </a:p>
          <a:p>
            <a:pPr lvl="1"/>
            <a:r>
              <a:rPr lang="zh-CN" altLang="zh-CN" sz="2800" dirty="0"/>
              <a:t>触发/缓存能补一部分，但整体仍是“补丁式”。</a:t>
            </a:r>
            <a:endParaRPr lang="en-US" altLang="zh-CN" sz="2800" dirty="0"/>
          </a:p>
          <a:p>
            <a:pPr lvl="1"/>
            <a:r>
              <a:rPr lang="zh-CN" altLang="zh-CN" sz="2800" dirty="0"/>
              <a:t>自注意力模型占优的核心动因之一。</a:t>
            </a:r>
          </a:p>
          <a:p>
            <a:pPr lvl="0"/>
            <a:r>
              <a:rPr lang="zh-CN" altLang="zh-CN" sz="3200" dirty="0"/>
              <a:t>参数与存储/检索成本：</a:t>
            </a:r>
            <a:endParaRPr lang="en-US" altLang="zh-CN" sz="3200" dirty="0"/>
          </a:p>
          <a:p>
            <a:pPr lvl="1"/>
            <a:r>
              <a:rPr lang="zh-CN" altLang="zh-CN" sz="2800" dirty="0"/>
              <a:t>高阶 n-gram 参数规模（即便稀疏存储）与查表开销巨大</a:t>
            </a:r>
            <a:endParaRPr lang="en-US" altLang="zh-CN" sz="2800" dirty="0"/>
          </a:p>
          <a:p>
            <a:pPr lvl="1"/>
            <a:r>
              <a:rPr lang="zh-CN" altLang="zh-CN" sz="2800" dirty="0"/>
              <a:t>需要剪枝、前缀树/哈希、量化等工程技巧</a:t>
            </a:r>
            <a:endParaRPr lang="en-US" altLang="zh-CN" sz="2800" dirty="0"/>
          </a:p>
          <a:p>
            <a:r>
              <a:rPr lang="zh-CN" altLang="zh-CN" sz="3200" dirty="0"/>
              <a:t>OOV 与形态变化：</a:t>
            </a:r>
            <a:endParaRPr lang="en-US" altLang="zh-CN" sz="3200" dirty="0"/>
          </a:p>
          <a:p>
            <a:pPr lvl="1"/>
            <a:r>
              <a:rPr lang="zh-CN" altLang="zh-CN" sz="2800" dirty="0"/>
              <a:t>词形丰富语言会把统计分散到大量表面变体</a:t>
            </a:r>
            <a:r>
              <a:rPr lang="zh-CN" altLang="en-US" sz="2800" dirty="0"/>
              <a:t>，</a:t>
            </a:r>
            <a:r>
              <a:rPr lang="zh-CN" altLang="zh-CN" sz="2800" dirty="0"/>
              <a:t>类/因子化/子词化能缓解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pPr lvl="1"/>
            <a:r>
              <a:rPr lang="zh-CN" altLang="zh-CN" sz="2800" dirty="0"/>
              <a:t> n-gram 在“语义组合”上的泛化力有限。</a:t>
            </a:r>
          </a:p>
        </p:txBody>
      </p:sp>
    </p:spTree>
    <p:extLst>
      <p:ext uri="{BB962C8B-B14F-4D97-AF65-F5344CB8AC3E}">
        <p14:creationId xmlns:p14="http://schemas.microsoft.com/office/powerpoint/2010/main" val="984439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7C048-DC6F-4022-95F6-6B3339F12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82" y="104633"/>
            <a:ext cx="11973636" cy="43217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工程化与可落地：当计数超过亿级规模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CCB49E-C9C6-480D-8FF1-8824503C3B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537" y="1072124"/>
            <a:ext cx="11972925" cy="6334555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zh-CN" dirty="0"/>
              <a:t>SRILM：经典学术工具包，几乎支持所有主流平滑/插值/剪枝与混合，适合教学与快速实验。</a:t>
            </a:r>
          </a:p>
          <a:p>
            <a:pPr lvl="0"/>
            <a:endParaRPr lang="en-US" altLang="zh-CN" dirty="0"/>
          </a:p>
          <a:p>
            <a:pPr lvl="0"/>
            <a:r>
              <a:rPr lang="zh-CN" altLang="zh-CN" dirty="0"/>
              <a:t>KenLM：用压缩 trie / probing hash 等结构，把查询延迟与内存打到很低；是机器翻译/ASR 的事实标准库之一。能在笔记本上装得下几十 GB 的 5-gram。</a:t>
            </a:r>
            <a:endParaRPr lang="en-US" altLang="zh-CN" dirty="0"/>
          </a:p>
          <a:p>
            <a:pPr lvl="1"/>
            <a:r>
              <a:rPr lang="en-US" altLang="zh-CN" dirty="0">
                <a:hlinkClick r:id="rId3"/>
              </a:rPr>
              <a:t>https://kheafield.com/papers/avenue/kenlm.pdf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>
                <a:hlinkClick r:id="rId4"/>
              </a:rPr>
              <a:t>https://github.com/kpu/kenlm</a:t>
            </a:r>
            <a:endParaRPr lang="zh-CN" altLang="zh-CN" dirty="0"/>
          </a:p>
          <a:p>
            <a:pPr lvl="0"/>
            <a:endParaRPr lang="en-US" altLang="zh-CN" dirty="0"/>
          </a:p>
          <a:p>
            <a:pPr lvl="0"/>
            <a:r>
              <a:rPr lang="zh-CN" altLang="zh-CN" dirty="0"/>
              <a:t>Stupid Backoff 的分布式建模范式</a:t>
            </a:r>
            <a:endParaRPr lang="en-US" altLang="zh-CN" dirty="0"/>
          </a:p>
          <a:p>
            <a:pPr lvl="1"/>
            <a:r>
              <a:rPr lang="zh-CN" altLang="zh-CN" dirty="0"/>
              <a:t>在海量语料上用常数回退做近似，配合 </a:t>
            </a:r>
            <a:r>
              <a:rPr lang="zh-CN" altLang="zh-CN" b="1" dirty="0"/>
              <a:t>MapReduce </a:t>
            </a:r>
            <a:r>
              <a:rPr lang="zh-CN" altLang="zh-CN" dirty="0"/>
              <a:t>简化训练与部署；</a:t>
            </a:r>
            <a:endParaRPr lang="en-US" altLang="zh-CN" dirty="0"/>
          </a:p>
          <a:p>
            <a:pPr lvl="1"/>
            <a:r>
              <a:rPr lang="zh-CN" altLang="zh-CN" dirty="0"/>
              <a:t>思想点在于“规模能把简单模型推很远”。</a:t>
            </a:r>
            <a:endParaRPr lang="en-US" altLang="zh-CN" dirty="0"/>
          </a:p>
          <a:p>
            <a:pPr lvl="1"/>
            <a:r>
              <a:rPr lang="en-US" altLang="zh-CN" dirty="0">
                <a:hlinkClick r:id="rId5"/>
              </a:rPr>
              <a:t>https://www.cs.brandeis.edu/~cs136a/CS136a_docs/goodman2001.pdf</a:t>
            </a:r>
            <a:r>
              <a:rPr lang="en-US" altLang="zh-CN" dirty="0"/>
              <a:t> </a:t>
            </a:r>
            <a:endParaRPr lang="zh-CN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2192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9463393-0DB4-1E32-C19A-80D44AC4F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931" y="159583"/>
            <a:ext cx="11047423" cy="523239"/>
          </a:xfrm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zh-CN" altLang="en-US" sz="3200" b="1" dirty="0">
                <a:solidFill>
                  <a:schemeClr val="accent6">
                    <a:lumMod val="50000"/>
                  </a:schemeClr>
                </a:solidFill>
              </a:rPr>
              <a:t>可选编程作业：用 </a:t>
            </a:r>
            <a:r>
              <a:rPr lang="en-US" altLang="zh-CN" sz="3200" b="1" dirty="0" err="1">
                <a:solidFill>
                  <a:schemeClr val="accent6">
                    <a:lumMod val="50000"/>
                  </a:schemeClr>
                </a:solidFill>
              </a:rPr>
              <a:t>Gensim</a:t>
            </a:r>
            <a:r>
              <a:rPr lang="en-US" altLang="zh-CN" sz="32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zh-CN" altLang="en-US" sz="3200" b="1" dirty="0">
                <a:solidFill>
                  <a:schemeClr val="accent6">
                    <a:lumMod val="50000"/>
                  </a:schemeClr>
                </a:solidFill>
              </a:rPr>
              <a:t>跑表示学习 </a:t>
            </a:r>
            <a:r>
              <a:rPr lang="en-US" altLang="zh-CN" sz="3200" b="1" dirty="0">
                <a:solidFill>
                  <a:schemeClr val="accent6">
                    <a:lumMod val="50000"/>
                  </a:schemeClr>
                </a:solidFill>
              </a:rPr>
              <a:t>&amp;</a:t>
            </a:r>
            <a:r>
              <a:rPr lang="zh-CN" altLang="en-US" sz="32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zh-CN" sz="3200" b="1" dirty="0" err="1">
                <a:solidFill>
                  <a:schemeClr val="accent6">
                    <a:lumMod val="50000"/>
                  </a:schemeClr>
                </a:solidFill>
              </a:rPr>
              <a:t>FastText</a:t>
            </a:r>
            <a:r>
              <a:rPr lang="en-US" altLang="zh-CN" sz="32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zh-CN" altLang="en-US" sz="3200" b="1" dirty="0">
                <a:solidFill>
                  <a:schemeClr val="accent6">
                    <a:lumMod val="50000"/>
                  </a:schemeClr>
                </a:solidFill>
              </a:rPr>
              <a:t>文本分类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32216CD-A552-D0FF-8351-A27CC794A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68045"/>
            <a:ext cx="11968480" cy="5989955"/>
          </a:xfr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访问官网，或者其他任何介绍</a:t>
            </a:r>
            <a:r>
              <a:rPr lang="en-US" altLang="zh-CN" sz="2400" b="1" dirty="0" err="1">
                <a:solidFill>
                  <a:schemeClr val="accent6">
                    <a:lumMod val="50000"/>
                  </a:schemeClr>
                </a:solidFill>
              </a:rPr>
              <a:t>Gensim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的网站，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https://radimrehurek.com/gensim/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目标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上手 </a:t>
            </a:r>
            <a:r>
              <a:rPr lang="en-US" altLang="zh-CN" sz="2000" dirty="0" err="1">
                <a:solidFill>
                  <a:schemeClr val="accent6">
                    <a:lumMod val="50000"/>
                  </a:schemeClr>
                </a:solidFill>
              </a:rPr>
              <a:t>Gensim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；了解它，并用它进行文本向量化表示学习的各种实验</a:t>
            </a:r>
            <a:endParaRPr lang="en-US" altLang="zh-CN" sz="20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训练 </a:t>
            </a:r>
            <a:r>
              <a:rPr lang="en-US" altLang="zh-CN" sz="2000" b="1" dirty="0" err="1">
                <a:solidFill>
                  <a:schemeClr val="accent6">
                    <a:lumMod val="50000"/>
                  </a:schemeClr>
                </a:solidFill>
              </a:rPr>
              <a:t>FastText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；基于向量完成一个</a:t>
            </a:r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</a:rPr>
              <a:t>文本分类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小实验；读源码并对照论文要点。</a:t>
            </a:r>
          </a:p>
          <a:p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数据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基本语料：自己寻找任意其他中英文本，最好是干净的类似新闻类文本进行表示学习的各种方法的实验。这类语料很多的，规模各不相同，但不要混杂噪音太大的其他类型语料）</a:t>
            </a:r>
          </a:p>
          <a:p>
            <a:pPr lvl="1"/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分类数据：人民日报 </a:t>
            </a:r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</a:rPr>
              <a:t>9801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语料（群里分享），自选标签</a:t>
            </a:r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分类数量最好是由少到多，逐步展开实验。</a:t>
            </a:r>
          </a:p>
          <a:p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工具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en-US" altLang="zh-CN" sz="2000" dirty="0" err="1">
                <a:solidFill>
                  <a:schemeClr val="accent6">
                    <a:lumMod val="50000"/>
                  </a:schemeClr>
                </a:solidFill>
              </a:rPr>
              <a:t>gensim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、</a:t>
            </a:r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</a:rPr>
              <a:t>scikit-learn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、</a:t>
            </a:r>
            <a:r>
              <a:rPr lang="en-US" altLang="zh-CN" sz="2000" dirty="0" err="1">
                <a:solidFill>
                  <a:schemeClr val="accent6">
                    <a:lumMod val="50000"/>
                  </a:schemeClr>
                </a:solidFill>
              </a:rPr>
              <a:t>jieba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（或你熟悉的分词器）</a:t>
            </a:r>
            <a:endParaRPr lang="en-US" altLang="zh-CN" sz="20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关键点：</a:t>
            </a:r>
            <a:endParaRPr lang="en-US" altLang="zh-CN" sz="24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基础要求：跑通全流程</a:t>
            </a:r>
            <a:endParaRPr lang="en-US" altLang="zh-CN" sz="20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进阶要求：读懂相关论文，对比</a:t>
            </a:r>
            <a:r>
              <a:rPr lang="en-US" altLang="zh-CN" sz="2000" dirty="0" err="1">
                <a:solidFill>
                  <a:schemeClr val="accent6">
                    <a:lumMod val="50000"/>
                  </a:schemeClr>
                </a:solidFill>
              </a:rPr>
              <a:t>Gensim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的实现方法</a:t>
            </a:r>
            <a:endParaRPr lang="en-US" altLang="zh-CN" sz="20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高级要求：尝试理解核心代码之外的周边代码，以及各类参数，超参数的设定方法和意义</a:t>
            </a:r>
            <a:endParaRPr lang="en-US" altLang="zh-CN" sz="2000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zh-CN" altLang="en-US" sz="2400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zh-CN" altLang="en-US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72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11715</Words>
  <Application>Microsoft Office PowerPoint</Application>
  <PresentationFormat>宽屏</PresentationFormat>
  <Paragraphs>620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system-ui</vt:lpstr>
      <vt:lpstr>等线</vt:lpstr>
      <vt:lpstr>等线 Light</vt:lpstr>
      <vt:lpstr>Arial</vt:lpstr>
      <vt:lpstr>Open Sans</vt:lpstr>
      <vt:lpstr>Office 主题​​</vt:lpstr>
      <vt:lpstr>n-gram 模型</vt:lpstr>
      <vt:lpstr>n-gram方法的由来：从 Shannon 的“预测实验”到现代 LM 的起点</vt:lpstr>
      <vt:lpstr>一个“有限记忆”的概率近似</vt:lpstr>
      <vt:lpstr>n-gram 的粒度与计数单位的早期分叉</vt:lpstr>
      <vt:lpstr>“仍是计数，但更聪明”的计算变种</vt:lpstr>
      <vt:lpstr>更多“工程化变种”：为规模、适配与泛化服务</vt:lpstr>
      <vt:lpstr>总结一下，让 n-gram 的世界清晰</vt:lpstr>
      <vt:lpstr>n-gram “计数+归一化”为何不够？</vt:lpstr>
      <vt:lpstr>n-gram平滑方法的思想谱系</vt:lpstr>
      <vt:lpstr>n-gram 的结构性局限（为什么后来要神经化/注意力）</vt:lpstr>
      <vt:lpstr>编程作业：自己尝试进行训练</vt:lpstr>
      <vt:lpstr>几个简单的思考题</vt:lpstr>
      <vt:lpstr>结构性局限无法解决</vt:lpstr>
      <vt:lpstr>工程化与可落地：当计数超过亿级规模</vt:lpstr>
      <vt:lpstr>可选编程作业：用 Gensim 跑表示学习 &amp; FastText 文本分类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zr z</dc:creator>
  <cp:lastModifiedBy>zr z</cp:lastModifiedBy>
  <cp:revision>2</cp:revision>
  <dcterms:created xsi:type="dcterms:W3CDTF">2026-10-14T06:28:45Z</dcterms:created>
  <dcterms:modified xsi:type="dcterms:W3CDTF">2026-10-14T09:06:35Z</dcterms:modified>
</cp:coreProperties>
</file>